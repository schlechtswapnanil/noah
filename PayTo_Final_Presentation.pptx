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Mid-term model</c:v>
                </c:pt>
              </c:strCache>
            </c:strRef>
          </c:tx>
          <c:spPr>
            <a:solidFill>
              <a:srgbClr val="C9CFF0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E3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Intent accuracy</c:v>
                  </c:pt>
                  <c:pt idx="1">
                    <c:v>Wrong action fired</c:v>
                  </c:pt>
                  <c:pt idx="2">
                    <c:v>Out-of-scope refused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70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Noah now</c:v>
                </c:pt>
              </c:strCache>
            </c:strRef>
          </c:tx>
          <c:spPr>
            <a:solidFill>
              <a:srgbClr val="4659FE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E3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Intent accuracy</c:v>
                  </c:pt>
                  <c:pt idx="1">
                    <c:v>Wrong action fired</c:v>
                  </c:pt>
                  <c:pt idx="2">
                    <c:v>Out-of-scope refused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87.5</c:v>
                </c:pt>
                <c:pt idx="1">
                  <c:v>4</c:v>
                </c:pt>
                <c:pt idx="2">
                  <c:v>83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000" u="none">
                  <a:solidFill>
                    <a:srgbClr val="292E3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55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9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9A1AF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55555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4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7.png"/><Relationship Id="rId9" Type="http://schemas.openxmlformats.org/officeDocument/2006/relationships/image" Target="../media/image-19-7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noah-z7qr.onrender.com/docs" TargetMode="External"/><Relationship Id="rId2" Type="http://schemas.openxmlformats.org/officeDocument/2006/relationships/hyperlink" Target="https://github.com/schlechtswapnanil/Noah" TargetMode="External"/><Relationship Id="rId3" Type="http://schemas.openxmlformats.org/officeDocument/2006/relationships/hyperlink" Target="https://offerhopper.ai/" TargetMode="External"/><Relationship Id="rId4" Type="http://schemas.openxmlformats.org/officeDocument/2006/relationships/hyperlink" Target="https://www.sbert.net/" TargetMode="External"/><Relationship Id="rId5" Type="http://schemas.openxmlformats.org/officeDocument/2006/relationships/hyperlink" Target="https://doi.org/10.1109/ICDM.2008.22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noah-z7qr.onrender.com/docs" TargetMode="External"/><Relationship Id="rId3" Type="http://schemas.openxmlformats.org/officeDocument/2006/relationships/hyperlink" Target="https://github.com/schlechtswapnanil/Noah" TargetMode="External"/><Relationship Id="rId1" Type="http://schemas.openxmlformats.org/officeDocument/2006/relationships/image" Target="../media/image-3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365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PayTo Final Project Update — Universität Hamburg (Summer 2026)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9518904" y="502920"/>
            <a:ext cx="1892808" cy="27432"/>
          </a:xfrm>
          <a:prstGeom prst="rect">
            <a:avLst/>
          </a:prstGeom>
          <a:solidFill>
            <a:srgbClr val="CFD6F7"/>
          </a:solidFill>
          <a:ln w="12700">
            <a:solidFill>
              <a:srgbClr val="CFD6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CFD6F7"/>
          </a:solidFill>
          <a:ln w="12700">
            <a:solidFill>
              <a:srgbClr val="CFD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9202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Hybrid Recommendation System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&amp; Noah AI Assistant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 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Swapnanil Chakraborty — Technical Lead, PayTo Technologies UG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096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Kamran Anwar · Sagnic Das · Hailin Wang · Madina Haidari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4897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Degree: 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MSc., Universität Hamburg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8828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September 2026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6144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49640" y="2011680"/>
            <a:ext cx="31089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12" name="Image 0" descr="/private/tmp/claude-501/-Users-neil-Documents-PayTo-Noah-Noah/f41bab26-1b6f-4ad4-9978-f0e9261fbc9e/scratchpad/assets/payt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404872"/>
            <a:ext cx="2651760" cy="12744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5496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 Händler. Alle Vorteile. Eine App.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5146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Table of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76072" y="4233672"/>
            <a:ext cx="594360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7096" y="1508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764024" y="15087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&amp; Motivation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197096" y="21762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64024" y="2176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Recommendation Engine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197096" y="28437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764024" y="28437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Evaluation &amp; Risks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97096" y="35112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3511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Noah — Overview &amp; Flow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4178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09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41788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Grounding &amp; Integration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197096" y="4846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4846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Plan &amp; Milestones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29016" y="1508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508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Infrastructure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29016" y="21762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695944" y="2176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Pipeline, Demo &amp; Video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129016" y="28437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695944" y="28437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Future Considerations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35112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08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695944" y="3511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Intent &amp; Evaluation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129016" y="4178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695944" y="4178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Risks &amp; Future Considerations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129016" y="4846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695944" y="4846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References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Context &amp; Motivation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EXISTS TODAY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177393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different app for every step of shopping</a:t>
            </a:r>
            <a:endParaRPr lang="en-US" sz="2200" dirty="0"/>
          </a:p>
        </p:txBody>
      </p:sp>
      <p:pic>
        <p:nvPicPr>
          <p:cNvPr id="9" name="Image 0" descr="/private/tmp/claude-501/-Users-neil-Documents-PayTo-Noah-Noah/f41bab26-1b6f-4ad4-9978-f0e9261fbc9e/scratchpad/assets/apps/kauf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331720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10" name="Text 7"/>
          <p:cNvSpPr txBox="1"/>
          <p:nvPr/>
        </p:nvSpPr>
        <p:spPr>
          <a:xfrm>
            <a:off x="484632" y="29626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kaufDA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</a:t>
            </a:r>
            <a:endParaRPr lang="en-US" sz="850" dirty="0"/>
          </a:p>
        </p:txBody>
      </p:sp>
      <p:pic>
        <p:nvPicPr>
          <p:cNvPr id="11" name="Image 1" descr="/private/tmp/claude-501/-Users-neil-Documents-PayTo-Noah-Noah/f41bab26-1b6f-4ad4-9978-f0e9261fbc9e/scratchpad/assets/apps/marktgu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2331720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12" name="Text 8"/>
          <p:cNvSpPr txBox="1"/>
          <p:nvPr/>
        </p:nvSpPr>
        <p:spPr>
          <a:xfrm>
            <a:off x="1618488" y="29626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marktguru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</a:t>
            </a:r>
            <a:endParaRPr lang="en-US" sz="850" dirty="0"/>
          </a:p>
        </p:txBody>
      </p:sp>
      <p:pic>
        <p:nvPicPr>
          <p:cNvPr id="13" name="Image 2" descr="/private/tmp/claude-501/-Users-neil-Documents-PayTo-Noah-Noah/f41bab26-1b6f-4ad4-9978-f0e9261fbc9e/scratchpad/assets/apps/idea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331720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2752344" y="29626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idealo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comparison</a:t>
            </a:r>
            <a:endParaRPr lang="en-US" sz="850" dirty="0"/>
          </a:p>
        </p:txBody>
      </p:sp>
      <p:pic>
        <p:nvPicPr>
          <p:cNvPr id="15" name="Image 3" descr="/private/tmp/claude-501/-Users-neil-Documents-PayTo-Noah-Noah/f41bab26-1b6f-4ad4-9978-f0e9261fbc9e/scratchpad/assets/apps/payb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2331720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16" name="Text 10"/>
          <p:cNvSpPr txBox="1"/>
          <p:nvPr/>
        </p:nvSpPr>
        <p:spPr>
          <a:xfrm>
            <a:off x="3886200" y="29626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850" dirty="0"/>
          </a:p>
        </p:txBody>
      </p:sp>
      <p:pic>
        <p:nvPicPr>
          <p:cNvPr id="17" name="Image 4" descr="/private/tmp/claude-501/-Users-neil-Documents-PayTo-Noah-Noah/f41bab26-1b6f-4ad4-9978-f0e9261fbc9e/scratchpad/assets/apps/deutschland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2331720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18" name="Text 11"/>
          <p:cNvSpPr txBox="1"/>
          <p:nvPr/>
        </p:nvSpPr>
        <p:spPr>
          <a:xfrm>
            <a:off x="5020056" y="29626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DeutschlandCard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850" dirty="0"/>
          </a:p>
        </p:txBody>
      </p:sp>
      <p:pic>
        <p:nvPicPr>
          <p:cNvPr id="19" name="Image 5" descr="/private/tmp/claude-501/-Users-neil-Documents-PayTo-Noah-Noah/f41bab26-1b6f-4ad4-9978-f0e9261fbc9e/scratchpad/assets/apps/lidlpl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447288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20" name="Text 12"/>
          <p:cNvSpPr txBox="1"/>
          <p:nvPr/>
        </p:nvSpPr>
        <p:spPr>
          <a:xfrm>
            <a:off x="484632" y="407822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Lidl Plus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 &amp; coupons</a:t>
            </a:r>
            <a:endParaRPr lang="en-US" sz="850" dirty="0"/>
          </a:p>
        </p:txBody>
      </p:sp>
      <p:pic>
        <p:nvPicPr>
          <p:cNvPr id="21" name="Image 6" descr="/private/tmp/claude-501/-Users-neil-Documents-PayTo-Noah-Noah/f41bab26-1b6f-4ad4-9978-f0e9261fbc9e/scratchpad/assets/apps/rew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9384" y="3447288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22" name="Text 13"/>
          <p:cNvSpPr txBox="1"/>
          <p:nvPr/>
        </p:nvSpPr>
        <p:spPr>
          <a:xfrm>
            <a:off x="1618488" y="407822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REWE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card</a:t>
            </a:r>
            <a:endParaRPr lang="en-US" sz="850" dirty="0"/>
          </a:p>
        </p:txBody>
      </p:sp>
      <p:pic>
        <p:nvPicPr>
          <p:cNvPr id="23" name="Image 7" descr="/private/tmp/claude-501/-Users-neil-Documents-PayTo-Noah-Noah/f41bab26-1b6f-4ad4-9978-f0e9261fbc9e/scratchpad/assets/apps/edek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3447288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24" name="Text 14"/>
          <p:cNvSpPr txBox="1"/>
          <p:nvPr/>
        </p:nvSpPr>
        <p:spPr>
          <a:xfrm>
            <a:off x="2752344" y="407822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EDEKA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card</a:t>
            </a:r>
            <a:endParaRPr lang="en-US" sz="850" dirty="0"/>
          </a:p>
        </p:txBody>
      </p:sp>
      <p:pic>
        <p:nvPicPr>
          <p:cNvPr id="25" name="Image 8" descr="/private/tmp/claude-501/-Users-neil-Documents-PayTo-Noah-Noah/f41bab26-1b6f-4ad4-9978-f0e9261fbc9e/scratchpad/assets/apps/d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7096" y="3447288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26" name="Text 15"/>
          <p:cNvSpPr txBox="1"/>
          <p:nvPr/>
        </p:nvSpPr>
        <p:spPr>
          <a:xfrm>
            <a:off x="3886200" y="407822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Mein dm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card</a:t>
            </a:r>
            <a:endParaRPr lang="en-US" sz="850" dirty="0"/>
          </a:p>
        </p:txBody>
      </p:sp>
      <p:pic>
        <p:nvPicPr>
          <p:cNvPr id="27" name="Image 9" descr="/private/tmp/claude-501/-Users-neil-Documents-PayTo-Noah-Noah/f41bab26-1b6f-4ad4-9978-f0e9261fbc9e/scratchpad/assets/apps/bri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0952" y="3447288"/>
            <a:ext cx="603504" cy="603504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28" name="Text 16"/>
          <p:cNvSpPr txBox="1"/>
          <p:nvPr/>
        </p:nvSpPr>
        <p:spPr>
          <a:xfrm>
            <a:off x="5020056" y="407822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Bring!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list</a:t>
            </a:r>
            <a:endParaRPr lang="en-US" sz="850" dirty="0"/>
          </a:p>
        </p:txBody>
      </p:sp>
      <p:sp>
        <p:nvSpPr>
          <p:cNvPr id="29" name="Shape 17"/>
          <p:cNvSpPr/>
          <p:nvPr/>
        </p:nvSpPr>
        <p:spPr>
          <a:xfrm>
            <a:off x="576072" y="4728210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30" name="Text 18"/>
          <p:cNvSpPr txBox="1"/>
          <p:nvPr/>
        </p:nvSpPr>
        <p:spPr>
          <a:xfrm>
            <a:off x="841248" y="4663440"/>
            <a:ext cx="540410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here, prices there, a loyalty app per retailer, a list app on top.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576072" y="5279898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32" name="Text 20"/>
          <p:cNvSpPr txBox="1"/>
          <p:nvPr/>
        </p:nvSpPr>
        <p:spPr>
          <a:xfrm>
            <a:off x="841248" y="5215128"/>
            <a:ext cx="540410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&amp; impersonal: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codes scanned at checkout, points redeemed by hand, the same offers for every user.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649224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34" name="Text 22"/>
          <p:cNvSpPr txBox="1"/>
          <p:nvPr/>
        </p:nvSpPr>
        <p:spPr>
          <a:xfrm>
            <a:off x="6492240" y="17739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PayTo — one app, and an assistant</a:t>
            </a:r>
            <a:endParaRPr lang="en-US" sz="2200" dirty="0"/>
          </a:p>
        </p:txBody>
      </p:sp>
      <p:sp>
        <p:nvSpPr>
          <p:cNvPr id="35" name="Shape 23"/>
          <p:cNvSpPr/>
          <p:nvPr/>
        </p:nvSpPr>
        <p:spPr>
          <a:xfrm>
            <a:off x="6492240" y="2286000"/>
            <a:ext cx="51206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36" name="Image 10" descr="/private/tmp/claude-501/-Users-neil-Documents-PayTo-Noah-Noah/f41bab26-1b6f-4ad4-9978-f0e9261fbc9e/scratchpad/assets/payto_log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2487168"/>
            <a:ext cx="1554480" cy="74707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458200" y="2395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Offers, live prices, loyalty cards and points in one place — with a personalised offer layer instead of manual QR scanning.</a:t>
            </a:r>
            <a:endParaRPr lang="en-US" sz="1100" dirty="0"/>
          </a:p>
        </p:txBody>
      </p:sp>
      <p:sp>
        <p:nvSpPr>
          <p:cNvPr id="38" name="Text 25"/>
          <p:cNvSpPr txBox="1"/>
          <p:nvPr/>
        </p:nvSpPr>
        <p:spPr>
          <a:xfrm>
            <a:off x="6492240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adds two independent AI systems on top of the existing app — both live:</a:t>
            </a:r>
            <a:endParaRPr lang="en-US" sz="1250" dirty="0"/>
          </a:p>
        </p:txBody>
      </p:sp>
      <p:sp>
        <p:nvSpPr>
          <p:cNvPr id="39" name="Shape 26"/>
          <p:cNvSpPr/>
          <p:nvPr/>
        </p:nvSpPr>
        <p:spPr>
          <a:xfrm>
            <a:off x="6492240" y="41148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6629400" y="42519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11" descr="/private/tmp/claude-501/-Users-neil-Documents-PayTo-Noah-Noah/f41bab26-1b6f-4ad4-9978-f0e9261fbc9e/scratchpad/assets/icons/brai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0350" y="4352910"/>
            <a:ext cx="218724" cy="218724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629400" y="4718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①  Hybrid recommendation engine</a:t>
            </a:r>
            <a:endParaRPr lang="en-US" sz="1250" dirty="0"/>
          </a:p>
        </p:txBody>
      </p:sp>
      <p:sp>
        <p:nvSpPr>
          <p:cNvPr id="43" name="Text 29"/>
          <p:cNvSpPr txBox="1"/>
          <p:nvPr/>
        </p:nvSpPr>
        <p:spPr>
          <a:xfrm>
            <a:off x="6629400" y="51389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SBERT content-based + ALS collaborative filtering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8275320" y="429768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8275320" y="4297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9144000" y="41148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>
            <a:off x="9281160" y="42519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12" descr="/private/tmp/claude-501/-Users-neil-Documents-PayTo-Noah-Noah/f41bab26-1b6f-4ad4-9978-f0e9261fbc9e/scratchpad/assets/icons/robo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2110" y="4352910"/>
            <a:ext cx="218724" cy="218724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9281160" y="4718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②  Noah — agentic AI assistant</a:t>
            </a:r>
            <a:endParaRPr lang="en-US" sz="1250" dirty="0"/>
          </a:p>
        </p:txBody>
      </p:sp>
      <p:sp>
        <p:nvSpPr>
          <p:cNvPr id="50" name="Text 35"/>
          <p:cNvSpPr txBox="1"/>
          <p:nvPr/>
        </p:nvSpPr>
        <p:spPr>
          <a:xfrm>
            <a:off x="9281160" y="51389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Grounded, bilingual, asks instead of guessing</a:t>
            </a:r>
            <a:endParaRPr lang="en-US" sz="1000" dirty="0"/>
          </a:p>
        </p:txBody>
      </p:sp>
      <p:sp>
        <p:nvSpPr>
          <p:cNvPr id="51" name="Shape 36"/>
          <p:cNvSpPr/>
          <p:nvPr/>
        </p:nvSpPr>
        <p:spPr>
          <a:xfrm>
            <a:off x="10927080" y="429768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10927080" y="4297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64922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 delivered in partnership with Universität Hamburg.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What’s Already Built — Company Infrastructure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 PayTo Technologies UG. Both AI systems build on top of these production components.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2788920" cy="361188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9" name="Image 0" descr="/private/tmp/claude-501/-Users-neil-Documents-PayTo-Noah-Noah/f41bab26-1b6f-4ad4-9978-f0e9261fbc9e/scratchpad/assets/tech/flu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6771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2104" y="2834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Flutter Mobile App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" y="3163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 &amp; Android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32104" y="3566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screen with nearby offers, merchant cards, loyalty wallet.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Location-based discovery, QR code generation and scanning.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Onboarding, auth (OTP, Google, Apple), profile, consent &amp; legal pages.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593592" y="2011680"/>
            <a:ext cx="2788920" cy="361188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14" name="Image 1" descr="/private/tmp/claude-501/-Users-neil-Documents-PayTo-Noah-Noah/f41bab26-1b6f-4ad4-9978-f0e9261fbc9e/scratchpad/assets/tech/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226771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849624" y="2834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React Web App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849624" y="3163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Merchant &amp; Admin Portal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849624" y="3566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Merchant dashboard: offer management, analytics.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portal: user management, verification, reporting.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design, live data via Firestore listeners.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611112" y="2011680"/>
            <a:ext cx="2788920" cy="361188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19" name="Image 2" descr="/private/tmp/claude-501/-Users-neil-Documents-PayTo-Noah-Noah/f41bab26-1b6f-4ad4-9978-f0e9261fbc9e/scratchpad/assets/tech/fire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267712"/>
            <a:ext cx="457200" cy="457200"/>
          </a:xfrm>
          <a:prstGeom prst="rect">
            <a:avLst/>
          </a:prstGeom>
        </p:spPr>
      </p:pic>
      <p:pic>
        <p:nvPicPr>
          <p:cNvPr id="20" name="Image 3" descr="/private/tmp/claude-501/-Users-neil-Documents-PayTo-Noah-Noah/f41bab26-1b6f-4ad4-9978-f0e9261fbc9e/scratchpad/assets/tech/fastap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226771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67144" y="2834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Backend &amp; Search API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67144" y="3163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· FastAPI · SBERT + ALS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867144" y="3566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Firestore: users, merchants, offers, transactions.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recommendation API (FastAPI), hybrid pipeline, live.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all-MiniLM-L6-v2, 384-dim embeddings, in-memory index.</a:t>
            </a:r>
            <a:endParaRPr lang="en-US" sz="1150" dirty="0"/>
          </a:p>
        </p:txBody>
      </p:sp>
      <p:pic>
        <p:nvPicPr>
          <p:cNvPr id="24" name="Image 4" descr="/private/tmp/claude-501/-Users-neil-Documents-PayTo-Noah-Noah/f41bab26-1b6f-4ad4-9978-f0e9261fbc9e/scratchpad/assets/shot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828800"/>
            <a:ext cx="1789938" cy="39776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4A5578">
                <a:alpha val="28000"/>
              </a:srgbClr>
            </a:outerShdw>
          </a:effectLst>
        </p:spPr>
      </p:pic>
      <p:sp>
        <p:nvSpPr>
          <p:cNvPr id="25" name="Text 18"/>
          <p:cNvSpPr txBox="1"/>
          <p:nvPr/>
        </p:nvSpPr>
        <p:spPr>
          <a:xfrm>
            <a:off x="9144000" y="5870448"/>
            <a:ext cx="2887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Flutter app’s loyalty wallet — cards added by scan or by hand.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21284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Hybrid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Recommendation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Engine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76072" y="4343400"/>
            <a:ext cx="594360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4526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 collaborative filtering and SBERT content-based similarity, blended per user with an adaptive weight — in production behind the PayTo search &amp; recommendation API.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" y="1005840"/>
            <a:ext cx="731520" cy="7315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7" name="Image 0" descr="/private/tmp/claude-501/-Users-neil-Documents-PayTo-Noah-Noah/f41bab26-1b6f-4ad4-9978-f0e9261fbc9e/scratchpad/asset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18872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783080"/>
            <a:ext cx="5577840" cy="437083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55080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22008" y="2103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— content, CF, adaptive blend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7249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922008" y="27249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in production &amp; technology stack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3467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922008" y="33467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— dashboard &amp; demo video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39684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922008" y="39684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plan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45902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922008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Risks, open questions &amp; mitigations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5212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A6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922008" y="5212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considerations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· Hybrid Recommendation Engine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 collaborative filtering + SBERT content-based similarity, blended with an adaptive weighting scheme.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66960" y="148132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0" y="14813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IMPLEMENTED ·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1965960"/>
            <a:ext cx="3520440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2104" y="2194560"/>
            <a:ext cx="384048" cy="384048"/>
          </a:xfrm>
          <a:prstGeom prst="ellipse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21671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350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Content-Based Layer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19272" y="2148840"/>
            <a:ext cx="502920" cy="5029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6" name="Image 0" descr="/private/tmp/claude-501/-Users-neil-Documents-PayTo-Noah-Noah/f41bab26-1b6f-4ad4-9978-f0e9261fbc9e/scratchpad/asse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9973" y="2269541"/>
            <a:ext cx="261518" cy="26151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" y="2788920"/>
            <a:ext cx="30632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existing SBERT embeddings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Recommends similar products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training required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cold-start users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43400" y="1965960"/>
            <a:ext cx="3520440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99432" y="2194560"/>
            <a:ext cx="384048" cy="384048"/>
          </a:xfrm>
          <a:prstGeom prst="ellipse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9943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21671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2350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Collaborative Filtering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086600" y="2148840"/>
            <a:ext cx="502920" cy="5029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4" name="Image 1" descr="/private/tmp/claude-501/-Users-neil-Documents-PayTo-Noah-Noah/f41bab26-1b6f-4ad4-9978-f0e9261fbc9e/scratchpad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301" y="2269541"/>
            <a:ext cx="261518" cy="26151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599432" y="2788920"/>
            <a:ext cx="30632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 on user–product interactions (view / cart / purchase)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matrix-factorisation model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Recommends based on similar users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110728" y="1965960"/>
            <a:ext cx="3520440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66760" y="2194560"/>
            <a:ext cx="384048" cy="384048"/>
          </a:xfrm>
          <a:prstGeom prst="ellipse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3667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8887968" y="21671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8887968" y="2350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Adaptive Hybrid Blend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10853928" y="2148840"/>
            <a:ext cx="502920" cy="5029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2" name="Image 2" descr="/private/tmp/claude-501/-Users-neil-Documents-PayTo-Noah-Noah/f41bab26-1b6f-4ad4-9978-f0e9261fbc9e/scratchpad/assets/icons/nod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9" y="2269541"/>
            <a:ext cx="261518" cy="26151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366760" y="2788920"/>
            <a:ext cx="30632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Per-user blend weight α between CF and content-based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min-max normalised before blending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α → collaborative signal dominates as history accrues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576072" y="4370832"/>
            <a:ext cx="553212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850392" y="45354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Blend formula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850392" y="4873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pPr indent="0" marL="0">
              <a:buNone/>
            </a:pPr>
            <a:r>
              <a:rPr lang="en-US" sz="1450" b="1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</a:t>
            </a:r>
            <a:pPr indent="0" marL="0">
              <a:buNone/>
            </a:pPr>
            <a:r>
              <a:rPr lang="en-US" sz="14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(u, p) = α</a:t>
            </a:r>
            <a:pPr indent="0" marL="0">
              <a:buNone/>
            </a:pPr>
            <a:r>
              <a:rPr lang="en-US" sz="1450" b="1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pPr indent="0" marL="0">
              <a:buNone/>
            </a:pPr>
            <a:r>
              <a:rPr lang="en-US" sz="14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</a:t>
            </a:r>
            <a:pPr indent="0" marL="0">
              <a:buNone/>
            </a:pPr>
            <a:r>
              <a:rPr lang="en-US" sz="1450" b="1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</a:t>
            </a:r>
            <a:pPr indent="0" marL="0">
              <a:buNone/>
            </a:pPr>
            <a:r>
              <a:rPr lang="en-US" sz="14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(u, p) + (1 − α</a:t>
            </a:r>
            <a:pPr indent="0" marL="0">
              <a:buNone/>
            </a:pPr>
            <a:r>
              <a:rPr lang="en-US" sz="1450" b="1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pPr indent="0" marL="0">
              <a:buNone/>
            </a:pPr>
            <a:r>
              <a:rPr lang="en-US" sz="14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· S</a:t>
            </a:r>
            <a:pPr indent="0" marL="0">
              <a:buNone/>
            </a:pPr>
            <a:r>
              <a:rPr lang="en-US" sz="1450" b="1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</a:t>
            </a:r>
            <a:pPr indent="0" marL="0">
              <a:buNone/>
            </a:pPr>
            <a:r>
              <a:rPr lang="en-US" sz="14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(u, p)</a:t>
            </a:r>
            <a:endParaRPr lang="en-US" sz="1450" dirty="0"/>
          </a:p>
        </p:txBody>
      </p:sp>
      <p:sp>
        <p:nvSpPr>
          <p:cNvPr id="37" name="Text 32"/>
          <p:cNvSpPr txBox="1"/>
          <p:nvPr/>
        </p:nvSpPr>
        <p:spPr>
          <a:xfrm>
            <a:off x="850392" y="5239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</a:t>
            </a:r>
            <a:pPr indent="0" marL="0">
              <a:buNone/>
            </a:pPr>
            <a:r>
              <a:rPr lang="en-US" sz="1200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0.2 + 0.6 · min(N</a:t>
            </a:r>
            <a:pPr indent="0" marL="0">
              <a:buNone/>
            </a:pPr>
            <a:r>
              <a:rPr lang="en-US" sz="1200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20, 1)   →   0.2 ≤ α</a:t>
            </a:r>
            <a:pPr indent="0" marL="0">
              <a:buNone/>
            </a:pPr>
            <a:r>
              <a:rPr lang="en-US" sz="1200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≤ 0.8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850392" y="5532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S′ = (S − S</a:t>
            </a:r>
            <a:pPr indent="0" marL="0">
              <a:buNone/>
            </a:pPr>
            <a:r>
              <a:rPr lang="en-US" sz="1200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/ (S</a:t>
            </a:r>
            <a:pPr indent="0" marL="0">
              <a:buNone/>
            </a:pPr>
            <a:r>
              <a:rPr lang="en-US" sz="1200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</a:t>
            </a:r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− S</a:t>
            </a:r>
            <a:pPr indent="0" marL="0">
              <a:buNone/>
            </a:pPr>
            <a:r>
              <a:rPr lang="en-US" sz="1200" baseline="-400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pPr indent="0" marL="0">
              <a:buNone/>
            </a:pPr>
            <a:r>
              <a:rPr lang="en-US" sz="12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  — min-max normalisation of both scores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850392" y="5852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S_CF is the content-based score; N_u is the number of recorded interactions for user u.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355080" y="4370832"/>
            <a:ext cx="52578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41" name="Text 36"/>
          <p:cNvSpPr txBox="1"/>
          <p:nvPr/>
        </p:nvSpPr>
        <p:spPr>
          <a:xfrm>
            <a:off x="6629400" y="45354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Event taxonomy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6629400" y="4919472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629400" y="4919472"/>
            <a:ext cx="777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1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7498080" y="4919472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7498080" y="4919472"/>
            <a:ext cx="777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add_to_cart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3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8366760" y="4919472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366760" y="4919472"/>
            <a:ext cx="777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5</a:t>
            </a:r>
            <a:endParaRPr lang="en-US" sz="950" dirty="0"/>
          </a:p>
        </p:txBody>
      </p:sp>
      <p:sp>
        <p:nvSpPr>
          <p:cNvPr id="48" name="Text 43"/>
          <p:cNvSpPr txBox="1"/>
          <p:nvPr/>
        </p:nvSpPr>
        <p:spPr>
          <a:xfrm>
            <a:off x="6629400" y="55138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weight = stronger personalisation signal, feeding the ALS confidence matrix.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9326880" y="45354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Tiered fallback — live</a:t>
            </a:r>
            <a:endParaRPr lang="en-US" sz="1400" dirty="0"/>
          </a:p>
        </p:txBody>
      </p:sp>
      <p:sp>
        <p:nvSpPr>
          <p:cNvPr id="50" name="Text 45"/>
          <p:cNvSpPr txBox="1"/>
          <p:nvPr/>
        </p:nvSpPr>
        <p:spPr>
          <a:xfrm>
            <a:off x="9326880" y="491947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user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SBERT content similarity (α low)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history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blended, α increasing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history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ALS-dominant collaborative filtering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· Recommendation Pipeline — In Production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a “planned extension” at mid-term is delivered and serving the PayTo app.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457200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76072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Recommendation Pipeline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" y="2606040"/>
            <a:ext cx="3931920" cy="10973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78892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88950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/private/tmp/claude-501/-Users-neil-Documents-PayTo-Noah-Noah/f41bab26-1b6f-4ad4-9978-f0e9261fbc9e/scratchpad/assets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179" y="2994843"/>
            <a:ext cx="228234" cy="2282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 Catalogue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118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 offers &amp; products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679192" y="3410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6112" y="36576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375818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/private/tmp/claude-501/-Users-neil-Documents-PayTo-Noah-Noah/f41bab26-1b6f-4ad4-9978-f0e9261fbc9e/scratchpad/assets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9" y="3863523"/>
            <a:ext cx="228234" cy="22823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55448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SBERT Encoding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554480" y="39867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all-MiniLM-L6-v2, 384-dim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679192" y="4279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96112" y="452628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05840" y="462686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2" descr="/private/tmp/claude-501/-Users-neil-Documents-PayTo-Noah-Noah/f41bab26-1b6f-4ad4-9978-f0e9261fbc9e/scratchpad/asse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9" y="4732203"/>
            <a:ext cx="228234" cy="22823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554480" y="4599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ALS Interaction Matrix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1554480" y="4855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/ cart / purchase weights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2679192" y="51480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96112" y="539496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05840" y="549554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3" descr="/private/tmp/claude-501/-Users-neil-Documents-PayTo-Noah-Noah/f41bab26-1b6f-4ad4-9978-f0e9261fbc9e/scratchpad/assets/icons/nod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79" y="5600883"/>
            <a:ext cx="228234" cy="22823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554480" y="5468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Adaptive Hybrid Merge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1554480" y="57241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α-weighted, min-max normalised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5440680" y="196596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Technology stack — recommender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5440680" y="2468880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36" name="Image 4" descr="/private/tmp/claude-501/-Users-neil-Documents-PayTo-Noah-Noah/f41bab26-1b6f-4ad4-9978-f0e9261fbc9e/scratchpad/assets/tech/flut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202" y="2665110"/>
            <a:ext cx="476220" cy="4762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373368" y="257860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Flutter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6373368" y="2871216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(iOS &amp; Android) — live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641080" y="2468880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40" name="Image 5" descr="/private/tmp/claude-501/-Users-neil-Documents-PayTo-Noah-Noah/f41bab26-1b6f-4ad4-9978-f0e9261fbc9e/scratchpad/assets/tech/reac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602" y="2665110"/>
            <a:ext cx="476220" cy="47622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573768" y="257860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React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573768" y="2871216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Merchant &amp; admin portal — live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440680" y="3456432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44" name="Image 6" descr="/private/tmp/claude-501/-Users-neil-Documents-PayTo-Noah-Noah/f41bab26-1b6f-4ad4-9978-f0e9261fbc9e/scratchpad/assets/tech/fastap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202" y="3652662"/>
            <a:ext cx="476220" cy="47622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373368" y="356616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FastAPI</a:t>
            </a:r>
            <a:endParaRPr lang="en-US" sz="1300" dirty="0"/>
          </a:p>
        </p:txBody>
      </p:sp>
      <p:sp>
        <p:nvSpPr>
          <p:cNvPr id="46" name="Text 37"/>
          <p:cNvSpPr txBox="1"/>
          <p:nvPr/>
        </p:nvSpPr>
        <p:spPr>
          <a:xfrm>
            <a:off x="6373368" y="385876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recommendation API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8641080" y="3456432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48" name="Image 7" descr="/private/tmp/claude-501/-Users-neil-Documents-PayTo-Noah-Noah/f41bab26-1b6f-4ad4-9978-f0e9261fbc9e/scratchpad/assets/tech/fire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7602" y="3652662"/>
            <a:ext cx="476220" cy="47622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573768" y="356616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Firestore</a:t>
            </a:r>
            <a:endParaRPr lang="en-US" sz="1300" dirty="0"/>
          </a:p>
        </p:txBody>
      </p:sp>
      <p:sp>
        <p:nvSpPr>
          <p:cNvPr id="50" name="Text 40"/>
          <p:cNvSpPr txBox="1"/>
          <p:nvPr/>
        </p:nvSpPr>
        <p:spPr>
          <a:xfrm>
            <a:off x="9573768" y="385876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Users, offers, transactions, interactions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5440680" y="4443984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52" name="Image 8" descr="/private/tmp/claude-501/-Users-neil-Documents-PayTo-Noah-Noah/f41bab26-1b6f-4ad4-9978-f0e9261fbc9e/scratchpad/assets/tech/huggingfa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7202" y="4640214"/>
            <a:ext cx="476220" cy="47622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6373368" y="455371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SBERT · MiniLM</a:t>
            </a:r>
            <a:endParaRPr lang="en-US" sz="1300" dirty="0"/>
          </a:p>
        </p:txBody>
      </p:sp>
      <p:sp>
        <p:nvSpPr>
          <p:cNvPr id="54" name="Text 43"/>
          <p:cNvSpPr txBox="1"/>
          <p:nvPr/>
        </p:nvSpPr>
        <p:spPr>
          <a:xfrm>
            <a:off x="6373368" y="48463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all-MiniLM-L6-v2, 384-dim embeddings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8641080" y="4443984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8842248" y="4594860"/>
            <a:ext cx="566928" cy="56692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57" name="Image 9" descr="/private/tmp/claude-501/-Users-neil-Documents-PayTo-Noah-Noah/f41bab26-1b6f-4ad4-9978-f0e9261fbc9e/scratchpad/assets/icons/node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8311" y="4730923"/>
            <a:ext cx="294803" cy="294803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9573768" y="455371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ALS</a:t>
            </a:r>
            <a:endParaRPr lang="en-US" sz="1300" dirty="0"/>
          </a:p>
        </p:txBody>
      </p:sp>
      <p:sp>
        <p:nvSpPr>
          <p:cNvPr id="59" name="Text 47"/>
          <p:cNvSpPr txBox="1"/>
          <p:nvPr/>
        </p:nvSpPr>
        <p:spPr>
          <a:xfrm>
            <a:off x="9573768" y="48463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Implicit-feedback matrix factorisation</a:t>
            </a:r>
            <a:endParaRPr lang="en-US" sz="1000" dirty="0"/>
          </a:p>
        </p:txBody>
      </p:sp>
      <p:sp>
        <p:nvSpPr>
          <p:cNvPr id="60" name="Shape 48"/>
          <p:cNvSpPr/>
          <p:nvPr/>
        </p:nvSpPr>
        <p:spPr>
          <a:xfrm>
            <a:off x="5440680" y="5431536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61" name="Image 10" descr="/private/tmp/claude-501/-Users-neil-Documents-PayTo-Noah-Noah/f41bab26-1b6f-4ad4-9978-f0e9261fbc9e/scratchpad/assets/tech/pytho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7202" y="5627766"/>
            <a:ext cx="476220" cy="476220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6373368" y="554126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Python</a:t>
            </a:r>
            <a:endParaRPr lang="en-US" sz="1300" dirty="0"/>
          </a:p>
        </p:txBody>
      </p:sp>
      <p:sp>
        <p:nvSpPr>
          <p:cNvPr id="63" name="Text 50"/>
          <p:cNvSpPr txBox="1"/>
          <p:nvPr/>
        </p:nvSpPr>
        <p:spPr>
          <a:xfrm>
            <a:off x="6373368" y="5833872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training, hybrid scoring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8641080" y="5431536"/>
            <a:ext cx="29718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8842248" y="5582412"/>
            <a:ext cx="566928" cy="56692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66" name="Image 11" descr="/private/tmp/claude-501/-Users-neil-Documents-PayTo-Noah-Noah/f41bab26-1b6f-4ad4-9978-f0e9261fbc9e/scratchpad/assets/icons/serv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8311" y="5718475"/>
            <a:ext cx="294803" cy="294803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9573768" y="554126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In-memory index</a:t>
            </a:r>
            <a:endParaRPr lang="en-US" sz="1300" dirty="0"/>
          </a:p>
        </p:txBody>
      </p:sp>
      <p:sp>
        <p:nvSpPr>
          <p:cNvPr id="68" name="Text 54"/>
          <p:cNvSpPr txBox="1"/>
          <p:nvPr/>
        </p:nvSpPr>
        <p:spPr>
          <a:xfrm>
            <a:off x="9573768" y="5833872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384-dim embeddings served from memory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· Live Demo — Recommendation Dashboard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prototype for the PayTo recommendation system: personalised recommendations and user-profile management.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548640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50392" y="21214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Recommended products for u000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41401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 recommendations · hybrid score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" y="2788920"/>
          <a:ext cx="4937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280160"/>
                <a:gridCol w="731520"/>
                <a:gridCol w="731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#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Product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Category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Price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Score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2E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Pretzel Roll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Bakery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€1.50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2E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Body Lotion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Personal care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€6.13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2E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Bio Butter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€0.92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2E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Fruit Gummies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Snacks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€1.75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2E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Wholegrain Bread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Bakery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€1.22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50392" y="5349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= normalised hybrid score S′ for user u000 (α-blend of ALS and SBERT similarity).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1965960"/>
            <a:ext cx="525780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29400" y="21214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Users management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24140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View, create, update and delete user profile data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788920"/>
          <a:ext cx="4709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60120"/>
                <a:gridCol w="868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User ID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Country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Device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Preferred categories</a:t>
                      </a:r>
                      <a:endParaRPr lang="en-US" sz="115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Germany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drinks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u001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Germany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bakery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u002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Germany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bakery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u003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Germany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snacks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u004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Germany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bakery, personal_care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u005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Germany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personal_care, bakery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629400" y="5532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interaction / profile view — preferred categories seed the content-based layer for new users.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· Demo — Recommendation Engine in Action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recording of the recommendation dashboard: personalised ranking, user profiles and the α-blend in practice.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737360" y="1965960"/>
            <a:ext cx="8732520" cy="4251960"/>
          </a:xfrm>
          <a:prstGeom prst="roundRect">
            <a:avLst>
              <a:gd name="adj" fmla="val 3871"/>
            </a:avLst>
          </a:prstGeom>
          <a:solidFill>
            <a:srgbClr val="F5F6FE"/>
          </a:solidFill>
          <a:ln w="15875">
            <a:solidFill>
              <a:srgbClr val="4659F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600700" y="3268980"/>
            <a:ext cx="1005840" cy="1005840"/>
          </a:xfrm>
          <a:prstGeom prst="ellipse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46420" y="32689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457700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video — recommendation dashboard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896612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Placeholder: insert the screen recording here (Insert ▸ Video ▸ from file).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· Evaluation — Recommendation Engine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ranking quality on a holdout set now; online engagement metrics once the pilot is live in the app.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54406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02352" y="2240280"/>
            <a:ext cx="640080" cy="64008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971" y="239389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0392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OFFLINE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2487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Ranking quality on the holdout set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0392" y="3086894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15568" y="3017520"/>
            <a:ext cx="4581144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NDCG@5 / NDCG@10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ranking quality of the top-K list.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0392" y="3675285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15568" y="3605911"/>
            <a:ext cx="4581144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MRR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mean reciprocal rank of the first relevant product.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0392" y="4263676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15568" y="4194302"/>
            <a:ext cx="4581144" cy="26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Precision@K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top-K accuracy on the holdout set.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50392" y="4621879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15568" y="4552506"/>
            <a:ext cx="4581144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counterfactual uplift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on historic interaction data.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72200" y="2011680"/>
            <a:ext cx="54406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0698480" y="2240280"/>
            <a:ext cx="640080" cy="64008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3" name="Image 1" descr="/private/tmp/claude-501/-Users-neil-Documents-PayTo-Noah-Noah/f41bab26-1b6f-4ad4-9978-f0e9261fbc9e/scratchpad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099" y="2393899"/>
            <a:ext cx="332842" cy="33284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44652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ONLINE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446520" y="2487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Engagement once live in the app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6446520" y="3086894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711696" y="3017520"/>
            <a:ext cx="4581144" cy="26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Click-through rate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on recommended offers.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46520" y="3445097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711696" y="3375724"/>
            <a:ext cx="4581144" cy="26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Add-to-cart conversion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from recommendations.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446520" y="3803301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711696" y="3733927"/>
            <a:ext cx="4581144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relevant offer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quickly a user finds something useful.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576072" y="5303520"/>
            <a:ext cx="11036808" cy="822960"/>
          </a:xfrm>
          <a:prstGeom prst="roundRect">
            <a:avLst>
              <a:gd name="adj" fmla="val 15556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50392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Status.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metrics are computed on the holdout split of the simulated interaction dataset (50 → 1,000 products). Online metrics need real user traffic and belong to the pilot after the academic handover.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· Risks, Open Questions &amp; Mitigations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engine only — Noah has its own risk register (Part B).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2257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0744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Cold-start for new users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83464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Falls back to SBERT content similarity on viewed items and the declared preferred categories — the ALS weight α stays at its 0.2 floor until interaction history accrues.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6448" y="201168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5048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5" name="Image 1" descr="/private/tmp/claude-501/-Users-neil-Documents-PayTo-Noah-Noah/f41bab26-1b6f-4ad4-9978-f0e9261fbc9e/scratchpad/asse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232257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1120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Sparse interaction data early 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5048" y="283464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/ simulated interactions for initial training (50 → 1,000 products), supplemented with implicit feedback such as session time and scroll depth.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6824" y="201168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5424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0" name="Image 2" descr="/private/tmp/claude-501/-Users-neil-Documents-PayTo-Noah-Noah/f41bab26-1b6f-4ad4-9978-f0e9261fbc9e/scratchpad/asset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152" y="232257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21496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Preference drift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45424" y="283464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 change over time; periodic retraining and recency weighting of interactions keep the ALS factors current.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6072" y="425196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45312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5" name="Image 3" descr="/private/tmp/claude-501/-Users-neil-Documents-PayTo-Noah-Noah/f41bab26-1b6f-4ad4-9978-f0e9261fbc9e/scratchpad/asset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6285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80744" y="443484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GDPR / privacy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" y="507492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Hashed user IDs in all training data; explicit opt-in consent gate in the app before any interaction is logged for personalisation.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46448" y="425196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5048" y="445312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0" name="Image 4" descr="/private/tmp/claude-501/-Users-neil-Documents-PayTo-Noah-Noah/f41bab26-1b6f-4ad4-9978-f0e9261fbc9e/scratchpad/assets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56285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51120" y="443484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Opaque rankings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575048" y="507492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 and content scores are min-max normalised and exposed per product (score transparency), so every recommendation can be explained by its two components.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116824" y="425196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45424" y="445312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5" name="Image 5" descr="/private/tmp/claude-501/-Users-neil-Documents-PayTo-Noah-Noah/f41bab26-1b6f-4ad4-9978-f0e9261fbc9e/scratchpad/assets/icons/bas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52" y="456285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921496" y="443484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Simulated catalogue &amp; interactions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345424" y="507492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demo runs on a simulated catalogue; real product feeds (kaufDA, Netto Plus, REWE Plus) are on the roadmap, so live behaviour will differ from the demo.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· Future Considerations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recommendation engine goes after the academic handover.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2257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0744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Context-aware signals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Location, time-of-day and seasonality enter the ranking alongside the α-blend.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6448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5048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5" name="Image 1" descr="/private/tmp/claude-501/-Users-neil-Documents-PayTo-Noah-Noah/f41bab26-1b6f-4ad4-9978-f0e9261fbc9e/scratchpad/assets/icons/bas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232257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1120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Real product data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5048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kaufDA, Netto Plus and REWE Plus APIs replace the simulated catalogue.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16824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5424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0" name="Image 2" descr="/private/tmp/claude-501/-Users-neil-Documents-PayTo-Noah-Noah/f41bab26-1b6f-4ad4-9978-f0e9261fbc9e/scratchpad/assets/icons/st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152" y="232257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21496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Merchant feedback loop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45424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Merchants tune campaign targeting on recommendation performance via the React admin portal.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76072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5" name="Image 3" descr="/private/tmp/claude-501/-Users-neil-Documents-PayTo-Noah-Noah/f41bab26-1b6f-4ad4-9978-f0e9261fbc9e/scratchpad/assets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2569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80744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Online evaluation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CTR, add-to-cart conversion and time-to-first-relevant-offer measured in the pilot, closing the offline/online loop.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46448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5048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0" name="Image 4" descr="/private/tmp/claude-501/-Users-neil-Documents-PayTo-Noah-Noah/f41bab26-1b6f-4ad4-9978-f0e9261fbc9e/scratchpad/assets/icons/g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42569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51120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CI/CD &amp; retraining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575048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training on fresh interactions, deployment gates on offline metrics, latency and error dashboards.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116824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45424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5" name="Image 5" descr="/private/tmp/claude-501/-Users-neil-Documents-PayTo-Noah-Noah/f41bab26-1b6f-4ad4-9978-f0e9261fbc9e/scratchpad/assets/icons/l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52" y="442569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921496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System-API integration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345424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demo web app showcases the recommender; the functionality moves into the official PayTo website and app surfaces.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 B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21284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Noah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Assistant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76072" y="4343400"/>
            <a:ext cx="594360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4526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grounded, bilingual conversational and agentic assistant for the PayTo app — live at noah-z7qr.onrender.com, integrated with the Flutter client.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" y="1005840"/>
            <a:ext cx="731520" cy="7315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7" name="Image 0" descr="/private/tmp/claude-501/-Users-neil-Documents-PayTo-Noah-Noah/f41bab26-1b6f-4ad4-9978-f0e9261fbc9e/scratchpad/assets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18872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783080"/>
            <a:ext cx="5577840" cy="437083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55080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22008" y="2103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Overview, status &amp; how a request flows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7249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922008" y="27249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intent &amp; an honest evaluation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3467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922008" y="33467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of truth · Noah in action · demo video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39684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922008" y="39684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Context, deployment &amp; Flutter integration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45902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922008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 &amp; evaluation — measured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5212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B6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922008" y="5212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Risks, mitigations &amp; future considerations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does it for you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grounded, bilingual conversational and agentic assistant that lets PayTo users search, compare, navigate and manage their loyalty wallet in plain English or German — and that asks a question instead of guessing when it is not sure.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22402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IMPLEMENTED · LIVE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CAPABILITIES — AS SHIPPED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3008948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2" name="Image 0" descr="/private/tmp/claude-501/-Users-neil-Documents-PayTo-Noah-Noah/f41bab26-1b6f-4ad4-9978-f0e9261fbc9e/scratchpad/asse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3096730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78992" y="3063240"/>
            <a:ext cx="7360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 &amp; merchant search with live prices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3356991"/>
            <a:ext cx="736092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OfferHopper across Aldi, Lidl, REWE, Edeka, dm, Rossmann and more.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" y="3647123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6" name="Image 1" descr="/private/tmp/claude-501/-Users-neil-Documents-PayTo-Noah-Noah/f41bab26-1b6f-4ad4-9978-f0e9261fbc9e/scratchpad/assets/icons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" y="3734905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78992" y="3701415"/>
            <a:ext cx="7360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Shopping recommendations within a budget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78992" y="3995166"/>
            <a:ext cx="736092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options, price and store, ending with a map link.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76072" y="4285297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0" name="Image 2" descr="/private/tmp/claude-501/-Users-neil-Documents-PayTo-Noah-Noah/f41bab26-1b6f-4ad4-9978-f0e9261fbc9e/scratchpad/assets/icons/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" y="4373080"/>
            <a:ext cx="190195" cy="1901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78992" y="4339590"/>
            <a:ext cx="7360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Loyalty card, barcode, points and rewards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078992" y="4633341"/>
            <a:ext cx="736092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Payback, DeutschlandCard, Lidl Plus, Netto Plus, REWE Bonus, Edeka.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6072" y="4923472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4" name="Image 3" descr="/private/tmp/claude-501/-Users-neil-Documents-PayTo-Noah-Noah/f41bab26-1b6f-4ad4-9978-f0e9261fbc9e/scratchpad/assets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" y="5011255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8992" y="4977765"/>
            <a:ext cx="7360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Grounded answers about PayTo and about itself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78992" y="5271516"/>
            <a:ext cx="736092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Retrieved from published docs — never invented.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76072" y="5561647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8" name="Image 4" descr="/private/tmp/claude-501/-Users-neil-Documents-PayTo-Noah-Noah/f41bab26-1b6f-4ad4-9978-f0e9261fbc9e/scratchpad/assets/icons/transl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" y="5649430"/>
            <a:ext cx="190195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78992" y="5615940"/>
            <a:ext cx="7360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Natural language in English and German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078992" y="5909691"/>
            <a:ext cx="736092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Follow-ups resolved from conversation history; replies in the user’s language.</a:t>
            </a:r>
            <a:endParaRPr lang="en-US" sz="1200" dirty="0"/>
          </a:p>
        </p:txBody>
      </p:sp>
      <p:pic>
        <p:nvPicPr>
          <p:cNvPr id="31" name="Image 5" descr="/private/tmp/claude-501/-Users-neil-Documents-PayTo-Noah-Noah/f41bab26-1b6f-4ad4-9978-f0e9261fbc9e/scratchpad/assets/shot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463040"/>
            <a:ext cx="2070019" cy="44805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4A5578">
                <a:alpha val="28000"/>
              </a:srgbClr>
            </a:outerShdw>
          </a:effectLst>
        </p:spPr>
      </p:pic>
      <p:sp>
        <p:nvSpPr>
          <p:cNvPr id="32" name="Text 24"/>
          <p:cNvSpPr txBox="1"/>
          <p:nvPr/>
        </p:nvSpPr>
        <p:spPr>
          <a:xfrm>
            <a:off x="8686800" y="5989320"/>
            <a:ext cx="3258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the PayTo app: cheapest basket near the user, with the shopping-route card.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Status at a Glance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below is measured on the live service, not projected.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78024" y="219456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141" y="2308677"/>
            <a:ext cx="247254" cy="24725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58952" y="212140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304266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noah-z7qr.onrender.com · POST /api/chat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01568" y="201168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219456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5" name="Image 1" descr="/private/tmp/claude-501/-Users-neil-Documents-PayTo-Noah-Noah/f41bab26-1b6f-4ad4-9978-f0e9261fbc9e/scratchpad/assets/icons/tran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637" y="2308677"/>
            <a:ext cx="247254" cy="24725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84448" y="212140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+ DE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3584448" y="304266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 — replies in the user’s language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27064" y="201168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29016" y="219456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0" name="Image 2" descr="/private/tmp/claude-501/-Users-neil-Documents-PayTo-Noah-Noah/f41bab26-1b6f-4ad4-9978-f0e9261fbc9e/scratchpad/assets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133" y="2308677"/>
            <a:ext cx="247254" cy="24725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9944" y="212140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65 routes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409944" y="304266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0.94 route accuracy on a leakage-free split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52560" y="201168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954512" y="219456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5" name="Image 3" descr="/private/tmp/claude-501/-Users-neil-Documents-PayTo-Noah-Noah/f41bab26-1b6f-4ad4-9978-f0e9261fbc9e/scratchpad/assets/icons/bas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629" y="2308677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35440" y="212140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+ RAG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9235440" y="304266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OfferHopper prices · RAG over allow-listed docs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76072" y="416052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478024" y="434340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0" name="Image 4" descr="/private/tmp/claude-501/-Users-neil-Documents-PayTo-Noah-Noah/f41bab26-1b6f-4ad4-9978-f0e9261fbc9e/scratchpad/assets/icons/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141" y="4457517"/>
            <a:ext cx="247254" cy="24725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58952" y="427024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0.38 floor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758952" y="519150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floor → clarifying question; out-of-scope declined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3401568" y="416052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303520" y="434340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5" name="Image 5" descr="/private/tmp/claude-501/-Users-neil-Documents-PayTo-Noah-Noah/f41bab26-1b6f-4ad4-9978-f0e9261fbc9e/scratchpad/assets/icons/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637" y="4457517"/>
            <a:ext cx="247254" cy="24725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584448" y="427024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context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3584448" y="519150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history and device location — both optional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6227064" y="416052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129016" y="434340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40" name="Image 6" descr="/private/tmp/claude-501/-Users-neil-Documents-PayTo-Noah-Noah/f41bab26-1b6f-4ad4-9978-f0e9261fbc9e/scratchpad/assets/icons/fla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3133" y="4457517"/>
            <a:ext cx="247254" cy="24725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409944" y="427024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139 tests</a:t>
            </a:r>
            <a:endParaRPr lang="en-US" sz="2400" dirty="0"/>
          </a:p>
        </p:txBody>
      </p:sp>
      <p:sp>
        <p:nvSpPr>
          <p:cNvPr id="42" name="Text 33"/>
          <p:cNvSpPr txBox="1"/>
          <p:nvPr/>
        </p:nvSpPr>
        <p:spPr>
          <a:xfrm>
            <a:off x="6409944" y="519150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tests · frozen 24-key API contract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9052560" y="416052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10954512" y="4343400"/>
            <a:ext cx="475488" cy="47548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45" name="Image 7" descr="/private/tmp/claude-501/-Users-neil-Documents-PayTo-Noah-Noah/f41bab26-1b6f-4ad4-9978-f0e9261fbc9e/scratchpad/assets/icons/c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8629" y="4457517"/>
            <a:ext cx="247254" cy="24725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235440" y="4270248"/>
            <a:ext cx="17373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~150 ms</a:t>
            </a:r>
            <a:endParaRPr lang="en-US" sz="2400" dirty="0"/>
          </a:p>
        </p:txBody>
      </p:sp>
      <p:sp>
        <p:nvSpPr>
          <p:cNvPr id="47" name="Text 37"/>
          <p:cNvSpPr txBox="1"/>
          <p:nvPr/>
        </p:nvSpPr>
        <p:spPr>
          <a:xfrm>
            <a:off x="9235440" y="5191506"/>
            <a:ext cx="219456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· 3–20 s with a live price lookup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How a Request Flows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deterministic pipeline: the model decides what to do, the tools fetch facts, the language model only phrases the reply.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1627632" cy="20574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" y="2176272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8600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00784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0664" y="2724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Instruction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" y="3182112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text, optionally with device location and the last 6 turns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185416" y="2857500"/>
            <a:ext cx="290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57907" y="2011680"/>
            <a:ext cx="1627632" cy="20574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22499" y="2176272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7" name="Image 1" descr="/private/tmp/claude-501/-Users-neil-Documents-PayTo-Noah-Noah/f41bab26-1b6f-4ad4-9978-f0e9261fbc9e/scratchpad/assets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27" y="228600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582619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622499" y="2724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Route classifier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2622499" y="3182112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(sub-intent, actions) with a calibrated confidence; 65 routes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067251" y="2857500"/>
            <a:ext cx="290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339742" y="2011680"/>
            <a:ext cx="1627632" cy="20574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04334" y="2176272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4" name="Image 2" descr="/private/tmp/claude-501/-Users-neil-Documents-PayTo-Noah-Noah/f41bab26-1b6f-4ad4-9978-f0e9261fbc9e/scratchpad/assets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062" y="228600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464454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04334" y="2724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Registry &amp; planner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504334" y="3182112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Domain, intent, tool and response mode derived — cannot contradict each other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949086" y="2857500"/>
            <a:ext cx="290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221578" y="2011680"/>
            <a:ext cx="1627632" cy="20574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386170" y="2176272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1" name="Image 3" descr="/private/tmp/claude-501/-Users-neil-Documents-PayTo-Noah-Noah/f41bab26-1b6f-4ad4-9978-f0e9261fbc9e/scratchpad/assets/icons/too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2286000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34629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386170" y="2724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Tools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386170" y="3182112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· Maps · OfferHopper MCP (live prices) · RAG over PayTo docs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830922" y="2857500"/>
            <a:ext cx="290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8103413" y="2011680"/>
            <a:ext cx="1627632" cy="20574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268005" y="2176272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8" name="Image 4" descr="/private/tmp/claude-501/-Users-neil-Documents-PayTo-Noah-Noah/f41bab26-1b6f-4ad4-9978-f0e9261fbc9e/scratchpad/assets/icons/com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733" y="2286000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228125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8268005" y="2724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Reply generator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8268005" y="3182112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phrases from the facts it is given; deterministic fallback if none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712757" y="2857500"/>
            <a:ext cx="290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36"/>
          <p:cNvSpPr/>
          <p:nvPr/>
        </p:nvSpPr>
        <p:spPr>
          <a:xfrm>
            <a:off x="9985248" y="2011680"/>
            <a:ext cx="1627632" cy="2057400"/>
          </a:xfrm>
          <a:prstGeom prst="roundRect">
            <a:avLst>
              <a:gd name="adj" fmla="val 5618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10149840" y="217627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5" descr="/private/tmp/claude-501/-Users-neil-Documents-PayTo-Noah-Noah/f41bab26-1b6f-4ad4-9978-f0e9261fbc9e/scratchpad/assets/icons/do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568" y="2286000"/>
            <a:ext cx="237744" cy="237744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110996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10149840" y="2724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Structured JSON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10149840" y="3182112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fixed keys → Flutter dispatcher opens the card, map or wallet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576072" y="434340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850392" y="45445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51" name="Image 6" descr="/private/tmp/claude-501/-Users-neil-Documents-PayTo-Noah-Noah/f41bab26-1b6f-4ad4-9978-f0e9261fbc9e/scratchpad/assets/icons/ques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654296"/>
            <a:ext cx="237744" cy="237744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1444752" y="456285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Below the confidence floor, Noah asks</a:t>
            </a:r>
            <a:endParaRPr lang="en-US" sz="1600" dirty="0"/>
          </a:p>
        </p:txBody>
      </p:sp>
      <p:sp>
        <p:nvSpPr>
          <p:cNvPr id="53" name="Text 44"/>
          <p:cNvSpPr txBox="1"/>
          <p:nvPr/>
        </p:nvSpPr>
        <p:spPr>
          <a:xfrm>
            <a:off x="850392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Firing the wrong action opens the wrong card, launches maps or spends a paid price lookup. A clarifying question costs one tap. The floor (0.38) is tuned by expected cost on hand-written probes the model has never seen.</a:t>
            </a:r>
            <a:endParaRPr lang="en-US" sz="1150" dirty="0"/>
          </a:p>
        </p:txBody>
      </p:sp>
      <p:sp>
        <p:nvSpPr>
          <p:cNvPr id="54" name="Shape 45"/>
          <p:cNvSpPr/>
          <p:nvPr/>
        </p:nvSpPr>
        <p:spPr>
          <a:xfrm>
            <a:off x="6217920" y="434340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6492240" y="45445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56" name="Image 7" descr="/private/tmp/claude-501/-Users-neil-Documents-PayTo-Noah-Noah/f41bab26-1b6f-4ad4-9978-f0e9261fbc9e/scratchpad/assets/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4654296"/>
            <a:ext cx="237744" cy="237744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7086600" y="456285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Nothing is invented</a:t>
            </a:r>
            <a:endParaRPr lang="en-US" sz="1600" dirty="0"/>
          </a:p>
        </p:txBody>
      </p:sp>
      <p:sp>
        <p:nvSpPr>
          <p:cNvPr id="58" name="Text 48"/>
          <p:cNvSpPr txBox="1"/>
          <p:nvPr/>
        </p:nvSpPr>
        <p:spPr>
          <a:xfrm>
            <a:off x="649224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Prices, stores, opening hours and policy facts come only from the tool results and retrieved documents. The user’s text is fenced inside the prompt as data, never as instructions. If a lookup returns nothing, the reply says exactly that.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Understanding Intent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thirteen classifiers that could disagree to one route model that cannot.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544068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02352" y="2240280"/>
            <a:ext cx="640080" cy="64008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971" y="239389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039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MID-TERM BASELINE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 independent classifiers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" y="292608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Domain, intent, sub-intent, tool, mode … each predicted separately — and they disagreed: WALLET / OPEN_CARD / SMALL_TALK on one request.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abstained — “what’s the weather in Berlin” opened directions.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1.00 accuracy on a corpus where 86% of the test set was in training verbatim.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2011680"/>
            <a:ext cx="5440680" cy="2697480"/>
          </a:xfrm>
          <a:prstGeom prst="roundRect">
            <a:avLst>
              <a:gd name="adj" fmla="val 4746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698480" y="22402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/private/tmp/claude-501/-Users-neil-Documents-PayTo-Noah-Noah/f41bab26-1b6f-4ad4-9978-f0e9261fbc9e/scratchpad/assets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099" y="239389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465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NOW LIVE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route model + a registry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292608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the pair (sub-intent, action sequence) — 65 routes. Every other field is looked up from that route, so a contradictory response is unrepresentable.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+ character n-gram TF-IDF into a calibrated linear model; confidence is meaningful, so Noah can abstain and ask.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Out-of-scope requests are a route of their own — declined with a clarifying question, nothing fires.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76072" y="4983480"/>
            <a:ext cx="2002536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58952" y="5093208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65</a:t>
            </a:r>
            <a:endParaRPr lang="en-US" sz="2800" dirty="0"/>
          </a:p>
        </p:txBody>
      </p:sp>
      <p:sp>
        <p:nvSpPr>
          <p:cNvPr id="22" name="Text 18"/>
          <p:cNvSpPr txBox="1"/>
          <p:nvPr/>
        </p:nvSpPr>
        <p:spPr>
          <a:xfrm>
            <a:off x="758952" y="5687568"/>
            <a:ext cx="163677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routes, one model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834640" y="4983480"/>
            <a:ext cx="2002536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3017520" y="5093208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0.94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3017520" y="5687568"/>
            <a:ext cx="163677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accuracy, leakage-free split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093208" y="4983480"/>
            <a:ext cx="2002536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5276088" y="5093208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0.97</a:t>
            </a:r>
            <a:endParaRPr lang="en-US" sz="2800" dirty="0"/>
          </a:p>
        </p:txBody>
      </p:sp>
      <p:sp>
        <p:nvSpPr>
          <p:cNvPr id="28" name="Text 24"/>
          <p:cNvSpPr txBox="1"/>
          <p:nvPr/>
        </p:nvSpPr>
        <p:spPr>
          <a:xfrm>
            <a:off x="5276088" y="5687568"/>
            <a:ext cx="163677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/ intent accuracy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351776" y="4983480"/>
            <a:ext cx="2002536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7534656" y="5093208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0.38</a:t>
            </a:r>
            <a:endParaRPr lang="en-US" sz="2800" dirty="0"/>
          </a:p>
        </p:txBody>
      </p:sp>
      <p:sp>
        <p:nvSpPr>
          <p:cNvPr id="31" name="Text 27"/>
          <p:cNvSpPr txBox="1"/>
          <p:nvPr/>
        </p:nvSpPr>
        <p:spPr>
          <a:xfrm>
            <a:off x="7534656" y="5687568"/>
            <a:ext cx="163677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floor (cost-tuned)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9610344" y="4983480"/>
            <a:ext cx="2002536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9793224" y="5093208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139</a:t>
            </a:r>
            <a:endParaRPr lang="en-US" sz="2800" dirty="0"/>
          </a:p>
        </p:txBody>
      </p:sp>
      <p:sp>
        <p:nvSpPr>
          <p:cNvPr id="34" name="Text 30"/>
          <p:cNvSpPr txBox="1"/>
          <p:nvPr/>
        </p:nvSpPr>
        <p:spPr>
          <a:xfrm>
            <a:off x="9793224" y="5687568"/>
            <a:ext cx="163677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tests, offline by default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An Honest Evaluation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mid-term corpus reported 1.00 accuracy. That number was leakage, not learning.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539496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5039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21,000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in the legacy corpus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4,377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them unique — rest duplicates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" y="3328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86%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831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test set was in training verbatim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64992" y="3328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364992" y="3831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greetings behind 2,080 rows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4681728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9,983 unique utterances · 28% German · 141 out-of-scope negatives · min 62 per route (was 4).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grouped by surface template — a paraphrase of a training line cannot land in the test set.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Hand-written probes never enter the corpus; the trainer refuses to run if one leaks.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011680"/>
            <a:ext cx="539496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92240" y="21762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Never-seen phrasing — hand-written probes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4871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13-head model vs Noah today, same protocol (%)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0" y="2788920"/>
          <a:ext cx="5074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Where Every Answer Comes From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sources of truth, and a language model that is only allowed to phrase them.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240280"/>
            <a:ext cx="731520" cy="7315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bas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23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64792" y="2258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prices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764792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OfferHopper MCP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0392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Queried at request time — nothing cached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Starts from device coordinates; a typed place wins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Price, 3 alternatives, “worth the trip?”, map link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0392" y="5029200"/>
            <a:ext cx="2971800" cy="10973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5" name="Image 1" descr="/private/tmp/claude-501/-Users-neil-Documents-PayTo-Noah-Noah/f41bab26-1b6f-4ad4-9978-f0e9261fbc9e/scratchpad/assets/apps/rew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257800"/>
            <a:ext cx="457200" cy="457200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pic>
        <p:nvPicPr>
          <p:cNvPr id="16" name="Image 2" descr="/private/tmp/claude-501/-Users-neil-Documents-PayTo-Noah-Noah/f41bab26-1b6f-4ad4-9978-f0e9261fbc9e/scratchpad/assets/apps/edek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5257800"/>
            <a:ext cx="457200" cy="457200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pic>
        <p:nvPicPr>
          <p:cNvPr id="17" name="Image 3" descr="/private/tmp/claude-501/-Users-neil-Documents-PayTo-Noah-Noah/f41bab26-1b6f-4ad4-9978-f0e9261fbc9e/scratchpad/assets/apps/d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5257800"/>
            <a:ext cx="457200" cy="457200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pic>
        <p:nvPicPr>
          <p:cNvPr id="18" name="Image 4" descr="/private/tmp/claude-501/-Users-neil-Documents-PayTo-Noah-Noah/f41bab26-1b6f-4ad4-9978-f0e9261fbc9e/scratchpad/assets/apps/lidlpl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76" y="5257800"/>
            <a:ext cx="457200" cy="457200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4A5578">
                <a:alpha val="22000"/>
              </a:srgbClr>
            </a:outerShdw>
          </a:effectLst>
        </p:spPr>
      </p:pic>
      <p:sp>
        <p:nvSpPr>
          <p:cNvPr id="19" name="Text 12"/>
          <p:cNvSpPr txBox="1"/>
          <p:nvPr/>
        </p:nvSpPr>
        <p:spPr>
          <a:xfrm>
            <a:off x="3182112" y="52120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Aldi, Penny, Netto,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Kaufland, Rossmann, Müller, Globus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4343400" y="196596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617720" y="2240280"/>
            <a:ext cx="731520" cy="7315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2" name="Image 5" descr="/private/tmp/claude-501/-Users-neil-Documents-PayTo-Noah-Noah/f41bab26-1b6f-4ad4-9978-f0e9261fbc9e/scratchpad/assets/icons/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532120" y="2258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Documents</a:t>
            </a:r>
            <a:endParaRPr lang="en-US" sz="1800" dirty="0"/>
          </a:p>
        </p:txBody>
      </p:sp>
      <p:sp>
        <p:nvSpPr>
          <p:cNvPr id="24" name="Text 16"/>
          <p:cNvSpPr txBox="1"/>
          <p:nvPr/>
        </p:nvSpPr>
        <p:spPr>
          <a:xfrm>
            <a:off x="5532120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Retrieval-augmented, scoped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461772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user-facing docs: privacy policy, FAQ, Noah sheet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shelves — Noah vs PayTo — never cross-ranked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26 test queries return the right passage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4617720" y="5029200"/>
            <a:ext cx="2971800" cy="10973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617720" y="5230368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pic>
        <p:nvPicPr>
          <p:cNvPr id="28" name="Image 6" descr="/private/tmp/claude-501/-Users-neil-Documents-PayTo-Noah-Noah/f41bab26-1b6f-4ad4-9978-f0e9261fbc9e/scratchpad/assets/icons/do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527608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4617720" y="5504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policy</a:t>
            </a:r>
            <a:endParaRPr lang="en-US" sz="750" dirty="0"/>
          </a:p>
        </p:txBody>
      </p:sp>
      <p:sp>
        <p:nvSpPr>
          <p:cNvPr id="30" name="Shape 21"/>
          <p:cNvSpPr/>
          <p:nvPr/>
        </p:nvSpPr>
        <p:spPr>
          <a:xfrm>
            <a:off x="5623560" y="5230368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pic>
        <p:nvPicPr>
          <p:cNvPr id="31" name="Image 7" descr="/private/tmp/claude-501/-Users-neil-Documents-PayTo-Noah-Noah/f41bab26-1b6f-4ad4-9978-f0e9261fbc9e/scratchpad/assets/icons/do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1032" y="5276088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623560" y="5504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FAQ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629400" y="5230368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pic>
        <p:nvPicPr>
          <p:cNvPr id="34" name="Image 8" descr="/private/tmp/claude-501/-Users-neil-Documents-PayTo-Noah-Noah/f41bab26-1b6f-4ad4-9978-f0e9261fbc9e/scratchpad/assets/icons/do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6872" y="5276088"/>
            <a:ext cx="219456" cy="2194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629400" y="5504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Noah (EN/DE)</a:t>
            </a:r>
            <a:endParaRPr lang="en-US" sz="750" dirty="0"/>
          </a:p>
        </p:txBody>
      </p:sp>
      <p:sp>
        <p:nvSpPr>
          <p:cNvPr id="36" name="Shape 25"/>
          <p:cNvSpPr/>
          <p:nvPr/>
        </p:nvSpPr>
        <p:spPr>
          <a:xfrm>
            <a:off x="8110728" y="196596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8385048" y="2240280"/>
            <a:ext cx="731520" cy="73152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8" name="Image 9" descr="/private/tmp/claude-501/-Users-neil-Documents-PayTo-Noah-Noah/f41bab26-1b6f-4ad4-9978-f0e9261fbc9e/scratchpad/assets/icons/comm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7928" y="2423160"/>
            <a:ext cx="365760" cy="36576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299448" y="2258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Language model</a:t>
            </a:r>
            <a:endParaRPr lang="en-US" sz="1800" dirty="0"/>
          </a:p>
        </p:txBody>
      </p:sp>
      <p:sp>
        <p:nvSpPr>
          <p:cNvPr id="40" name="Text 28"/>
          <p:cNvSpPr txBox="1"/>
          <p:nvPr/>
        </p:nvSpPr>
        <p:spPr>
          <a:xfrm>
            <a:off x="9299448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Phrases only — never decides</a:t>
            </a:r>
            <a:endParaRPr lang="en-US" sz="1050" dirty="0"/>
          </a:p>
        </p:txBody>
      </p:sp>
      <p:sp>
        <p:nvSpPr>
          <p:cNvPr id="41" name="Text 29"/>
          <p:cNvSpPr txBox="1"/>
          <p:nvPr/>
        </p:nvSpPr>
        <p:spPr>
          <a:xfrm>
            <a:off x="8385048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the plan, a fact block and fenced user text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1–3 sentences in the user’s language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sees name, email or payment data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8385048" y="5029200"/>
            <a:ext cx="2971800" cy="10973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43" name="Image 10" descr="/private/tmp/claude-501/-Users-neil-Documents-PayTo-Noah-Noah/f41bab26-1b6f-4ad4-9978-f0e9261fbc9e/scratchpad/assets/tech/groq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5048" y="5276088"/>
            <a:ext cx="960120" cy="34747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8385048" y="5669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· qwen3.6 / 3.8</a:t>
            </a:r>
            <a:endParaRPr lang="en-US" sz="750" dirty="0"/>
          </a:p>
        </p:txBody>
      </p:sp>
      <p:pic>
        <p:nvPicPr>
          <p:cNvPr id="45" name="Image 11" descr="/private/tmp/claude-501/-Users-neil-Documents-PayTo-Noah-Noah/f41bab26-1b6f-4ad4-9978-f0e9261fbc9e/scratchpad/assets/tech/googlegemin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3808" y="5257800"/>
            <a:ext cx="384048" cy="384048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9893808" y="5669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3.5 Flash-Lite</a:t>
            </a:r>
            <a:endParaRPr lang="en-US" sz="750" dirty="0"/>
          </a:p>
        </p:txBody>
      </p:sp>
      <p:sp>
        <p:nvSpPr>
          <p:cNvPr id="47" name="Text 33"/>
          <p:cNvSpPr txBox="1"/>
          <p:nvPr/>
        </p:nvSpPr>
        <p:spPr>
          <a:xfrm>
            <a:off x="8385048" y="589788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deterministic templates when every model is unavailable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in Action — Real Replies from the Live Service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pic>
        <p:nvPicPr>
          <p:cNvPr id="7" name="Image 0" descr="/private/tmp/claude-501/-Users-neil-Documents-PayTo-Noah-Noah/f41bab26-1b6f-4ad4-9978-f0e9261fbc9e/scratchpad/assets/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1933956" cy="429768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4A5578">
                <a:alpha val="2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365760" y="5833872"/>
            <a:ext cx="2848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search from device location, offer card, and the honest verdict.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63040"/>
            <a:ext cx="81838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685032" y="1554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Zeig mir meine Lidl Plus Karte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58200" y="1572768"/>
            <a:ext cx="2898648" cy="237744"/>
          </a:xfrm>
          <a:prstGeom prst="roundRect">
            <a:avLst>
              <a:gd name="adj" fmla="val 50000"/>
            </a:avLst>
          </a:prstGeom>
          <a:solidFill>
            <a:srgbClr val="E0E5F6"/>
          </a:solidFill>
          <a:ln w="12700">
            <a:solidFill>
              <a:srgbClr val="E0E5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157276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· OPEN_WALLET_CARD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85032" y="1847088"/>
            <a:ext cx="7671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 ist deine Lidl Plus Karte – halt den Barcode einfach an den Scanner, dann passt das.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685032" y="2084832"/>
            <a:ext cx="767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the wallet card; reply in German because the user wrote German.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29000" y="2514600"/>
            <a:ext cx="818388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685032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Recommend me something for breakfast near me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58200" y="2624328"/>
            <a:ext cx="2898648" cy="237744"/>
          </a:xfrm>
          <a:prstGeom prst="roundRect">
            <a:avLst>
              <a:gd name="adj" fmla="val 50000"/>
            </a:avLst>
          </a:prstGeom>
          <a:solidFill>
            <a:srgbClr val="E0E5F6"/>
          </a:solidFill>
          <a:ln w="12700">
            <a:solidFill>
              <a:srgbClr val="E0E5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58200" y="262432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· OfferHopper · location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3685032" y="2898648"/>
            <a:ext cx="7671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breakfast options at dm near you: Müsli Basis ohne Rosinen €1.35, Müsli Crunchy Hafer €2.25, Müsli Crunchy Schoko €2.35. Note the trip is considered not worth the time for the savings. https://offerhopper.ai/s/qG3FYLg4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685032" y="3410712"/>
            <a:ext cx="767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options, real prices, the honest verdict, and the map link.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29000" y="3840480"/>
            <a:ext cx="81838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685032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 you serve from real time data and RAG systems?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458200" y="3950208"/>
            <a:ext cx="2898648" cy="237744"/>
          </a:xfrm>
          <a:prstGeom prst="roundRect">
            <a:avLst>
              <a:gd name="adj" fmla="val 50000"/>
            </a:avLst>
          </a:prstGeom>
          <a:solidFill>
            <a:srgbClr val="E0E5F6"/>
          </a:solidFill>
          <a:ln w="12700">
            <a:solidFill>
              <a:srgbClr val="E0E5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39502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· APP_HELP · scoped retrieval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3685032" y="4224528"/>
            <a:ext cx="7671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I use real-time data from OfferHopper for prices and stock, and I use RAG to answer questions about PayTo from its published documentation and FAQ.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3685032" y="4626864"/>
            <a:ext cx="767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Answered from the capability document, not improvised.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429000" y="5056632"/>
            <a:ext cx="81838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685032" y="5148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transfer 50 euros to my brother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458200" y="5166360"/>
            <a:ext cx="2898648" cy="237744"/>
          </a:xfrm>
          <a:prstGeom prst="roundRect">
            <a:avLst>
              <a:gd name="adj" fmla="val 50000"/>
            </a:avLst>
          </a:prstGeom>
          <a:solidFill>
            <a:srgbClr val="E0E5F6"/>
          </a:solidFill>
          <a:ln w="12700">
            <a:solidFill>
              <a:srgbClr val="E0E5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516636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· UNKNOWN · no action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3685032" y="5440680"/>
            <a:ext cx="7671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I’m not sure what you need there. I can find products and offers, open your loyalty cards, or plan a cheaper shopping trip — which would you like?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685032" y="5843016"/>
            <a:ext cx="767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scope: declined with a clarifying question, nothing fires.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Demo — Noah in the PayTo App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recording of Noah on the phone: search, basket, wallet card, follow-ups and an out-of-scope request.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737360" y="1965960"/>
            <a:ext cx="8732520" cy="4251960"/>
          </a:xfrm>
          <a:prstGeom prst="roundRect">
            <a:avLst>
              <a:gd name="adj" fmla="val 3871"/>
            </a:avLst>
          </a:prstGeom>
          <a:solidFill>
            <a:srgbClr val="F5F6FE"/>
          </a:solidFill>
          <a:ln w="15875">
            <a:solidFill>
              <a:srgbClr val="4659F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600700" y="3268980"/>
            <a:ext cx="1005840" cy="1005840"/>
          </a:xfrm>
          <a:prstGeom prst="ellipse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46420" y="32689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457700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video — Noah assistant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896612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Placeholder: insert the phone screen recording here (Insert ▸ Video ▸ from file).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Context-Aware, Contract-Safe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optional, additive request fields. The 24-key response has never changed.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352044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221992"/>
            <a:ext cx="640080" cy="64008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38201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27632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Conversation history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627632" y="260604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E0E5F6"/>
          </a:solidFill>
          <a:ln w="12700">
            <a:solidFill>
              <a:srgbClr val="E0E5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27632" y="2606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— optional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30632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sends the last six turns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“Take me there” → route to the store just found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“Which one is cheapest?” answered from carried results — no new lookup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1965960"/>
            <a:ext cx="352044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2221992"/>
            <a:ext cx="640080" cy="64008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7" name="Image 1" descr="/private/tmp/claude-501/-Users-neil-Documents-PayTo-Noah-Noah/f41bab26-1b6f-4ad4-9978-f0e9261fbc9e/scratchpad/assets/icons/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38201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94960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Device location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394960" y="260604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E0E5F6"/>
          </a:solidFill>
          <a:ln w="12700">
            <a:solidFill>
              <a:srgbClr val="E0E5F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394960" y="2606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— optional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30632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Latitude/longitude or a postcode from the phone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only when the text names no place — “in Hamburg” wins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it: default area, and the reply says so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10728" y="1965960"/>
            <a:ext cx="3520440" cy="2697480"/>
          </a:xfrm>
          <a:prstGeom prst="roundRect">
            <a:avLst>
              <a:gd name="adj" fmla="val 4746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85048" y="222199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/private/tmp/claude-501/-Users-neil-Documents-PayTo-Noah-Noah/f41bab26-1b6f-4ad4-9978-f0e9261fbc9e/scratchpad/assets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382012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162288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Frozen wire contract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9162288" y="260604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162288" y="2606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test — always on</a:t>
            </a:r>
            <a:endParaRPr lang="en-US" sz="850" dirty="0"/>
          </a:p>
        </p:txBody>
      </p:sp>
      <p:sp>
        <p:nvSpPr>
          <p:cNvPr id="28" name="Text 23"/>
          <p:cNvSpPr txBox="1"/>
          <p:nvPr/>
        </p:nvSpPr>
        <p:spPr>
          <a:xfrm>
            <a:off x="8385048" y="30632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Pins request shape, the 24 keys, their types and vocabularies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on the mid-term code, green now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Flutter client never had to move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76072" y="4892040"/>
            <a:ext cx="1103680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850392" y="5056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REQUEST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50392" y="536752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50392" y="53675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2221992" y="536752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2F5F6"/>
          </a:solidFill>
          <a:ln w="9525">
            <a:solidFill>
              <a:srgbClr val="F2F5F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2221992" y="5367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 · optional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3913632" y="536752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2F5F6"/>
          </a:solidFill>
          <a:ln w="9525">
            <a:solidFill>
              <a:srgbClr val="F2F5F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913632" y="5367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 · optional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850392" y="5824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/api/chat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486400" y="5303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4"/>
          <p:cNvSpPr/>
          <p:nvPr/>
        </p:nvSpPr>
        <p:spPr>
          <a:xfrm>
            <a:off x="6053328" y="5276088"/>
            <a:ext cx="566928" cy="56692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40" name="Image 3" descr="/private/tmp/claude-501/-Users-neil-Documents-PayTo-Noah-Noah/f41bab26-1b6f-4ad4-9978-f0e9261fbc9e/scratchpad/assets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391" y="5412151"/>
            <a:ext cx="294803" cy="294803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858000" y="5056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9A1A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RESPONSE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858000" y="536752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858000" y="5367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fixed keys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8065008" y="53675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8065008" y="5367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⊆ registry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9592056" y="536752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9592056" y="5367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data on any failure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6858000" y="5824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vocabularies frozen: domain, response_mode, workflow_type, tools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Deployment &amp; Flutter Integration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 main, live in minutes; the app talks to one endpoint with one frozen contract.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1993392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9" name="Image 0" descr="/private/tmp/claude-501/-Users-neil-Documents-PayTo-Noah-Noah/f41bab26-1b6f-4ad4-9978-f0e9261fbc9e/scratchpad/assets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2081174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33272" y="2011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011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· Frankfurt · Docker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76072" y="2395728"/>
            <a:ext cx="5394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Auto-deploys on every push to main — a fix is live ~2–4 minutes after commit.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cut from ~2.5 GB to a few hundred MB so the free tier fits; LLM keys stay on the platform, never in the repo.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" y="3483864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4" name="Image 1" descr="/private/tmp/claude-501/-Users-neil-Documents-PayTo-Noah-Noah/f41bab26-1b6f-4ad4-9978-f0e9261fbc9e/scratchpad/assets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" y="3571646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33272" y="35021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Wire contract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200400" y="35021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Frozen, tested, additive-only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76072" y="3886200"/>
            <a:ext cx="5394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/api/chat with instruction; location and history optional.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24 response keys and frozen label vocabularies; contract tests green since mid-term.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76072" y="4805172"/>
            <a:ext cx="365760" cy="36576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9" name="Image 2" descr="/private/tmp/claude-501/-Users-neil-Documents-PayTo-Noah-Noah/f41bab26-1b6f-4ad4-9978-f0e9261fbc9e/scratchpad/assets/icons/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" y="4892954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33272" y="48234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Flutter integration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200400" y="48234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Self-contained brief for the app team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76072" y="5207508"/>
            <a:ext cx="5394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location fix per session; the last 6 turns travel with every request.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Dispatcher: text-only when no action, GET_DIRECTIONS added, null-data guard, 60 s timeout, /health warm-up.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355080" y="1965960"/>
            <a:ext cx="525780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6355080" y="21488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commit to phone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675120" y="2606040"/>
            <a:ext cx="4617720" cy="10973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75120" y="2834640"/>
            <a:ext cx="1051560" cy="1325880"/>
          </a:xfrm>
          <a:prstGeom prst="roundRect">
            <a:avLst>
              <a:gd name="adj" fmla="val 8696"/>
            </a:avLst>
          </a:prstGeom>
          <a:solidFill>
            <a:srgbClr val="F2F5F6"/>
          </a:solidFill>
          <a:ln w="9525">
            <a:solidFill>
              <a:srgbClr val="F2F5F6"/>
            </a:solidFill>
            <a:prstDash val="solid"/>
          </a:ln>
        </p:spPr>
      </p:sp>
      <p:pic>
        <p:nvPicPr>
          <p:cNvPr id="27" name="Image 3" descr="/private/tmp/claude-501/-Users-neil-Documents-PayTo-Noah-Noah/f41bab26-1b6f-4ad4-9978-f0e9261fbc9e/scratchpad/assets/tech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156" y="2990088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75120" y="3520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GitHub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6720840" y="3767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 main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699248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927848" y="2834640"/>
            <a:ext cx="1051560" cy="1325880"/>
          </a:xfrm>
          <a:prstGeom prst="roundRect">
            <a:avLst>
              <a:gd name="adj" fmla="val 8696"/>
            </a:avLst>
          </a:prstGeom>
          <a:solidFill>
            <a:srgbClr val="F2F5F6"/>
          </a:solidFill>
          <a:ln w="9525">
            <a:solidFill>
              <a:srgbClr val="F2F5F6"/>
            </a:solidFill>
            <a:prstDash val="solid"/>
          </a:ln>
        </p:spPr>
      </p:sp>
      <p:pic>
        <p:nvPicPr>
          <p:cNvPr id="32" name="Image 4" descr="/private/tmp/claude-501/-Users-neil-Documents-PayTo-Noah-Noah/f41bab26-1b6f-4ad4-9978-f0e9261fbc9e/scratchpad/assets/tech/dock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2990088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927848" y="3520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Docker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7973568" y="3767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~300 MB</a:t>
            </a:r>
            <a:endParaRPr lang="en-US" sz="850" dirty="0"/>
          </a:p>
        </p:txBody>
      </p:sp>
      <p:sp>
        <p:nvSpPr>
          <p:cNvPr id="35" name="Text 28"/>
          <p:cNvSpPr txBox="1"/>
          <p:nvPr/>
        </p:nvSpPr>
        <p:spPr>
          <a:xfrm>
            <a:off x="8951976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9180576" y="2834640"/>
            <a:ext cx="1051560" cy="1325880"/>
          </a:xfrm>
          <a:prstGeom prst="roundRect">
            <a:avLst>
              <a:gd name="adj" fmla="val 8696"/>
            </a:avLst>
          </a:prstGeom>
          <a:solidFill>
            <a:srgbClr val="F2F5F6"/>
          </a:solidFill>
          <a:ln w="9525">
            <a:solidFill>
              <a:srgbClr val="F2F5F6"/>
            </a:solidFill>
            <a:prstDash val="solid"/>
          </a:ln>
        </p:spPr>
      </p:sp>
      <p:pic>
        <p:nvPicPr>
          <p:cNvPr id="37" name="Image 5" descr="/private/tmp/claude-501/-Users-neil-Documents-PayTo-Noah-Noah/f41bab26-1b6f-4ad4-9978-f0e9261fbc9e/scratchpad/assets/tech/rend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2990088"/>
            <a:ext cx="475488" cy="47548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180576" y="3520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Render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9226296" y="3767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Frankfurt · 2–4 min</a:t>
            </a:r>
            <a:endParaRPr lang="en-US" sz="850" dirty="0"/>
          </a:p>
        </p:txBody>
      </p:sp>
      <p:sp>
        <p:nvSpPr>
          <p:cNvPr id="40" name="Text 32"/>
          <p:cNvSpPr txBox="1"/>
          <p:nvPr/>
        </p:nvSpPr>
        <p:spPr>
          <a:xfrm>
            <a:off x="10204704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10433304" y="2834640"/>
            <a:ext cx="1051560" cy="1325880"/>
          </a:xfrm>
          <a:prstGeom prst="roundRect">
            <a:avLst>
              <a:gd name="adj" fmla="val 8696"/>
            </a:avLst>
          </a:prstGeom>
          <a:solidFill>
            <a:srgbClr val="F5F6FE"/>
          </a:solidFill>
          <a:ln w="9525">
            <a:solidFill>
              <a:srgbClr val="4659FE"/>
            </a:solidFill>
            <a:prstDash val="solid"/>
          </a:ln>
        </p:spPr>
      </p:sp>
      <p:pic>
        <p:nvPicPr>
          <p:cNvPr id="42" name="Image 6" descr="/private/tmp/claude-501/-Users-neil-Documents-PayTo-Noah-Noah/f41bab26-1b6f-4ad4-9978-f0e9261fbc9e/scratchpad/assets/tech/fastap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1340" y="2990088"/>
            <a:ext cx="475488" cy="47548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433304" y="3520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FastAPI</a:t>
            </a:r>
            <a:endParaRPr lang="en-US" sz="1150" dirty="0"/>
          </a:p>
        </p:txBody>
      </p:sp>
      <p:sp>
        <p:nvSpPr>
          <p:cNvPr id="44" name="Text 35"/>
          <p:cNvSpPr txBox="1"/>
          <p:nvPr/>
        </p:nvSpPr>
        <p:spPr>
          <a:xfrm>
            <a:off x="10479024" y="3767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/api/chat</a:t>
            </a:r>
            <a:endParaRPr lang="en-US" sz="850" dirty="0"/>
          </a:p>
        </p:txBody>
      </p:sp>
      <p:sp>
        <p:nvSpPr>
          <p:cNvPr id="45" name="Text 36"/>
          <p:cNvSpPr txBox="1"/>
          <p:nvPr/>
        </p:nvSpPr>
        <p:spPr>
          <a:xfrm>
            <a:off x="861822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⇅</a:t>
            </a:r>
            <a:endParaRPr lang="en-US" sz="2000" dirty="0"/>
          </a:p>
        </p:txBody>
      </p:sp>
      <p:sp>
        <p:nvSpPr>
          <p:cNvPr id="46" name="Text 37"/>
          <p:cNvSpPr txBox="1"/>
          <p:nvPr/>
        </p:nvSpPr>
        <p:spPr>
          <a:xfrm>
            <a:off x="6675120" y="481888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+ last 6 turns  ↑      ↓  24-key JSON · 60 s timeout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6675120" y="5148072"/>
            <a:ext cx="4617720" cy="960120"/>
          </a:xfrm>
          <a:prstGeom prst="roundRect">
            <a:avLst>
              <a:gd name="adj" fmla="val 9524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pic>
        <p:nvPicPr>
          <p:cNvPr id="48" name="Image 7" descr="/private/tmp/claude-501/-Users-neil-Documents-PayTo-Noah-Noah/f41bab26-1b6f-4ad4-9978-f0e9261fbc9e/scratchpad/assets/tech/flutt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5376672"/>
            <a:ext cx="502920" cy="50292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589520" y="52852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PayTo Flutter app</a:t>
            </a:r>
            <a:endParaRPr lang="en-US" sz="1250" dirty="0"/>
          </a:p>
        </p:txBody>
      </p:sp>
      <p:sp>
        <p:nvSpPr>
          <p:cNvPr id="50" name="Text 40"/>
          <p:cNvSpPr txBox="1"/>
          <p:nvPr/>
        </p:nvSpPr>
        <p:spPr>
          <a:xfrm>
            <a:off x="7589520" y="5559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 opens the card, map or wallet · warms /health on launch · unknown actions ignored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Technology Stack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Noah runs on, from the route model to the phone.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9" name="Image 0" descr="/private/tmp/claude-501/-Users-neil-Documents-PayTo-Noah-Noah/f41bab26-1b6f-4ad4-9978-f0e9261fbc9e/scratchpad/assets/tech/fast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94" y="2322210"/>
            <a:ext cx="476220" cy="4762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07568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FastAPI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36829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/api/chat — routing, planning, tools, reply; frozen 24-key contract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96596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13" name="Image 1" descr="/private/tmp/claude-501/-Users-neil-Documents-PayTo-Noah-Noah/f41bab26-1b6f-4ad4-9978-f0e9261fbc9e/scratchpad/assets/tech/py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02" y="2322210"/>
            <a:ext cx="476220" cy="4762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15968" y="207568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Python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315968" y="236829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Service, corpus tooling, evaluation and probes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90488" y="196596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17" name="Image 2" descr="/private/tmp/claude-501/-Users-neil-Documents-PayTo-Noah-Noah/f41bab26-1b6f-4ad4-9978-f0e9261fbc9e/scratchpad/assets/tech/scikitle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010" y="2322210"/>
            <a:ext cx="476220" cy="4762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23176" y="207568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123176" y="236829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route model (65 routes, calibrated) and scoped retrieval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997696" y="196596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98864" y="2276856"/>
            <a:ext cx="566928" cy="56692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2" name="Image 3" descr="/private/tmp/claude-501/-Users-neil-Documents-PayTo-Noah-Noah/f41bab26-1b6f-4ad4-9978-f0e9261fbc9e/scratchpad/assets/icons/bas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927" y="2412919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930384" y="207568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OfferHopper MCP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930384" y="236829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German supermarket prices, baskets, routes, “worth the trip?”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76072" y="338328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26" name="Image 4" descr="/private/tmp/claude-501/-Users-neil-Documents-PayTo-Noah-Noah/f41bab26-1b6f-4ad4-9978-f0e9261fbc9e/scratchpad/assets/tech/gro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94" y="3739530"/>
            <a:ext cx="476220" cy="4762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349300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Groq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508760" y="378561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qwen3.6-27b → qwen3.8-27b for phrasing the fact block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83280" y="338328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30" name="Image 5" descr="/private/tmp/claude-501/-Users-neil-Documents-PayTo-Noah-Noah/f41bab26-1b6f-4ad4-9978-f0e9261fbc9e/scratchpad/assets/tech/googlegemin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802" y="3739530"/>
            <a:ext cx="476220" cy="4762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315968" y="349300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Gemini 3.5 Flash-Lite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315968" y="378561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rung of the fallback chain, before deterministic templates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190488" y="338328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34" name="Image 6" descr="/private/tmp/claude-501/-Users-neil-Documents-PayTo-Noah-Noah/f41bab26-1b6f-4ad4-9978-f0e9261fbc9e/scratchpad/assets/tech/dock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010" y="3739530"/>
            <a:ext cx="476220" cy="47622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123176" y="349300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Docker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7123176" y="378561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trimmed to a few hundred MB so the free tier fits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8997696" y="338328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38" name="Image 7" descr="/private/tmp/claude-501/-Users-neil-Documents-PayTo-Noah-Noah/f41bab26-1b6f-4ad4-9978-f0e9261fbc9e/scratchpad/assets/tech/rend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218" y="3739530"/>
            <a:ext cx="476220" cy="47622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930384" y="349300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Render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9930384" y="378561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Frankfurt; auto-deploy on push to main; keeps itself warm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76072" y="480060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42" name="Image 8" descr="/private/tmp/claude-501/-Users-neil-Documents-PayTo-Noah-Noah/f41bab26-1b6f-4ad4-9978-f0e9261fbc9e/scratchpad/assets/tech/pyt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594" y="5156850"/>
            <a:ext cx="476220" cy="47622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508760" y="49103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pytest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1508760" y="520293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 tests, offline by default: contract, routing, grounding, follow-ups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3383280" y="480060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46" name="Image 9" descr="/private/tmp/claude-501/-Users-neil-Documents-PayTo-Noah-Noah/f41bab26-1b6f-4ad4-9978-f0e9261fbc9e/scratchpad/assets/tech/githu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9802" y="5156850"/>
            <a:ext cx="476220" cy="47622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4315968" y="49103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GitHub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4315968" y="520293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Source, PR process and the deploy trigger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6190488" y="480060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50" name="Image 10" descr="/private/tmp/claude-501/-Users-neil-Documents-PayTo-Noah-Noah/f41bab26-1b6f-4ad4-9978-f0e9261fbc9e/scratchpad/assets/tech/flutt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7010" y="5156850"/>
            <a:ext cx="476220" cy="476220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7123176" y="49103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Flutter</a:t>
            </a:r>
            <a:endParaRPr lang="en-US" sz="1300" dirty="0"/>
          </a:p>
        </p:txBody>
      </p:sp>
      <p:sp>
        <p:nvSpPr>
          <p:cNvPr id="52" name="Text 39"/>
          <p:cNvSpPr txBox="1"/>
          <p:nvPr/>
        </p:nvSpPr>
        <p:spPr>
          <a:xfrm>
            <a:off x="7123176" y="520293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dispatcher: card, map or wallet; sends location + last 6 turns</a:t>
            </a:r>
            <a:endParaRPr lang="en-US" sz="1000" dirty="0"/>
          </a:p>
        </p:txBody>
      </p:sp>
      <p:sp>
        <p:nvSpPr>
          <p:cNvPr id="53" name="Shape 40"/>
          <p:cNvSpPr/>
          <p:nvPr/>
        </p:nvSpPr>
        <p:spPr>
          <a:xfrm>
            <a:off x="8997696" y="4800600"/>
            <a:ext cx="26060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54" name="Shape 41"/>
          <p:cNvSpPr/>
          <p:nvPr/>
        </p:nvSpPr>
        <p:spPr>
          <a:xfrm>
            <a:off x="9198864" y="5111496"/>
            <a:ext cx="566928" cy="566928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55" name="Image 11" descr="/private/tmp/claude-501/-Users-neil-Documents-PayTo-Noah-Noah/f41bab26-1b6f-4ad4-9978-f0e9261fbc9e/scratchpad/assets/icons/boo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4927" y="5247559"/>
            <a:ext cx="294803" cy="294803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9930384" y="49103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RAG documents</a:t>
            </a:r>
            <a:endParaRPr lang="en-US" sz="1300" dirty="0"/>
          </a:p>
        </p:txBody>
      </p:sp>
      <p:sp>
        <p:nvSpPr>
          <p:cNvPr id="57" name="Text 43"/>
          <p:cNvSpPr txBox="1"/>
          <p:nvPr/>
        </p:nvSpPr>
        <p:spPr>
          <a:xfrm>
            <a:off x="9930384" y="5202936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policy, published FAQ and the bilingual Noah sheet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Evaluation: From Plan to Results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below is measured on the shipped system.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2257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0744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Retrieval quality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26 scoped test queries return the right passage (EN + DE).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6448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5048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5" name="Image 1" descr="/private/tmp/claude-501/-Users-neil-Documents-PayTo-Noah-Noah/f41bab26-1b6f-4ad4-9978-f0e9261fbc9e/scratchpad/assets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232257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1120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Grounding accuracy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5048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knowledge claim traceable to context; a suspected hallucination was traced to a real FAQ chunk.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16824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5424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0" name="Image 2" descr="/private/tmp/claude-501/-Users-neil-Documents-PayTo-Noah-Noah/f41bab26-1b6f-4ad4-9978-f0e9261fbc9e/scratchpad/asse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152" y="232257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21496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Hallucination check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45424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 only from tools and documents; three honest failure states; nothing invented under test.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76072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5" name="Image 3" descr="/private/tmp/claude-501/-Users-neil-Documents-PayTo-Noah-Noah/f41bab26-1b6f-4ad4-9978-f0e9261fbc9e/scratchpad/assets/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2569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80744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Task success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87.5% intent accuracy on never-seen phrasing (mid-term model: 30%).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46448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5048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0" name="Image 4" descr="/private/tmp/claude-501/-Users-neil-Documents-PayTo-Noah-Noah/f41bab26-1b6f-4ad4-9978-f0e9261fbc9e/scratchpad/assets/icons/hist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42569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51120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Turns per query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575048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Follow-ups resolved server-side from history; 14.6% of valid requests ask first, wrong actions ≈ 4%.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116824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45424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5" name="Image 5" descr="/private/tmp/claude-501/-Users-neil-Documents-PayTo-Noah-Noah/f41bab26-1b6f-4ad4-9978-f0e9261fbc9e/scratchpad/assets/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52" y="442569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921496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Latency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345424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~150 ms routing · ~1 s reply · 3–20 s with a live price lookup.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Noah — Risks, Open Questions &amp; Mitigations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only — the recommendation engine has its own register (Part A).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2257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0744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OfferHopper rate limits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83464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retry honouring Retry-After; on failure the reply says the service is unreachable — never a stale or invented price.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6448" y="201168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5048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5" name="Image 1" descr="/private/tmp/claude-501/-Users-neil-Documents-PayTo-Noah-Noah/f41bab26-1b6f-4ad4-9978-f0e9261fbc9e/scratchpad/assets/icons/com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232257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1120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LLM quota and availability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5048" y="283464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Per-day caps per model: qwen3.6 → qwen3.8 → Gemini → deterministic templates. Routing and grounding are identical on every rung.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6824" y="201168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5424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0" name="Image 2" descr="/private/tmp/claude-501/-Users-neil-Documents-PayTo-Noah-Noah/f41bab26-1b6f-4ad4-9978-f0e9261fbc9e/scratchpad/assets/icons/tran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152" y="232257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21496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Synthetic phrasing in the corpus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45424" y="283464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 on the split vs 87.5% on hand-written probes: the gap is real user wording. Next lever is real logs, not tuning.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6072" y="425196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45312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5" name="Image 3" descr="/private/tmp/claude-501/-Users-neil-Documents-PayTo-Noah-Noah/f41bab26-1b6f-4ad4-9978-f0e9261fbc9e/scratchpad/assets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6285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80744" y="443484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Free-tier cold start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" y="507492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sleeps after ~15 min idle; first request ~50 s. The service keeps itself warm and the app pings /health on open; 60 s client timeout.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46448" y="425196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5048" y="445312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0" name="Image 4" descr="/private/tmp/claude-501/-Users-neil-Documents-PayTo-Noah-Noah/f41bab26-1b6f-4ad4-9978-f0e9261fbc9e/scratchpad/assets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56285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51120" y="443484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Privacy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575048" y="507492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Noah never receives name, email or payment data; user text is fenced as data inside the prompt, never as instructions.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116824" y="4251960"/>
            <a:ext cx="3496056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45424" y="445312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5" name="Image 5" descr="/private/tmp/claude-501/-Users-neil-Documents-PayTo-Noah-Noah/f41bab26-1b6f-4ad4-9978-f0e9261fbc9e/scratchpad/assets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52" y="456285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921496" y="443484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Prompt injection &amp; scope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345424" y="507492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engineering docs are unreachable by retrieval; out-of-scope requests are a route of their own and never fire an action.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 · Future Considerations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assistant goes after the academic handover.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0" name="Image 0" descr="/private/tmp/claude-501/-Users-neil-Documents-PayTo-Noah-Noah/f41bab26-1b6f-4ad4-9978-f0e9261fbc9e/scratchpad/asse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2257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0744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Real user logs → retrain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Noah’s corpus is template-generated. Real phrasing from the pilot closes the split-vs-probe gap and lowers the ask rate.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6448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5048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15" name="Image 1" descr="/private/tmp/claude-501/-Users-neil-Documents-PayTo-Noah-Noah/f41bab26-1b6f-4ad4-9978-f0e9261fbc9e/scratchpad/assets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232257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1120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Voice in and out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5048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Speech-to-text on the phone, text-to-speech for replies; the API is already text-in, text-out.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16824" y="201168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5424" y="221284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0" name="Image 2" descr="/private/tmp/claude-501/-Users-neil-Documents-PayTo-Noah-Noah/f41bab26-1b6f-4ad4-9978-f0e9261fbc9e/scratchpad/assets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152" y="232257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21496" y="219456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Local LLM option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45424" y="283464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reply layer is provider-agnostic; a local open-weight model swaps in for fully on-prem phrasing.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76072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25" name="Image 3" descr="/private/tmp/claude-501/-Users-neil-Documents-PayTo-Noah-Noah/f41bab26-1b6f-4ad4-9978-f0e9261fbc9e/scratchpad/assets/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2569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80744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Personalised suggestions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signed-in users, re-rank Noah’s suggestions with the app’s personalised ranking instead of price alone.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46448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5048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0" name="Image 4" descr="/private/tmp/claude-501/-Users-neil-Documents-PayTo-Noah-Noah/f41bab26-1b6f-4ad4-9978-f0e9261fbc9e/scratchpad/assets/icons/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42569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51120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Context-aware suggestions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575048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Time-of-day and seasonality alongside location in Noah’s recommendations.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116824" y="4114800"/>
            <a:ext cx="349605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45424" y="4315968"/>
            <a:ext cx="457200" cy="457200"/>
          </a:xfrm>
          <a:prstGeom prst="ellipse">
            <a:avLst/>
          </a:prstGeom>
          <a:solidFill>
            <a:srgbClr val="E8EBFE"/>
          </a:solidFill>
          <a:ln w="12700">
            <a:solidFill>
              <a:srgbClr val="E8EBFE"/>
            </a:solidFill>
            <a:prstDash val="solid"/>
          </a:ln>
        </p:spPr>
      </p:sp>
      <p:pic>
        <p:nvPicPr>
          <p:cNvPr id="35" name="Image 5" descr="/private/tmp/claude-501/-Users-neil-Documents-PayTo-Noah-Noah/f41bab26-1b6f-4ad4-9978-f0e9261fbc9e/scratchpad/assets/icons/g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52" y="442569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921496" y="4297680"/>
            <a:ext cx="2490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Monitoring &amp; deployment gates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345424" y="4937760"/>
            <a:ext cx="3038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test suite already exists; add latency/error dashboards and gate deploys on the contract and probe suites.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 Plan &amp; Milestones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70829" y="1188720"/>
            <a:ext cx="6450037" cy="493776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pic>
        <p:nvPicPr>
          <p:cNvPr id="8" name="Image 0" descr="/private/tmp/claude-501/-Users-neil-Documents-PayTo-Noah-Noah/f41bab26-1b6f-4ad4-9978-f0e9261fbc9e/scratchpad/assets/gantt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3709" y="1371600"/>
            <a:ext cx="6084277" cy="4572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870829" y="6163056"/>
            <a:ext cx="64500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Dates and work distribution are approximate and subject to change.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 Plan &amp; Milestones — Delivered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76072" y="1234440"/>
            <a:ext cx="758952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11112"/>
            <a:ext cx="12191695" cy="32004"/>
          </a:xfrm>
          <a:prstGeom prst="rect">
            <a:avLst/>
          </a:prstGeom>
          <a:solidFill>
            <a:srgbClr val="EDEFF0"/>
          </a:solidFill>
          <a:ln w="12700">
            <a:solidFill>
              <a:srgbClr val="EDEF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6455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Update — Universität Hamburg | Summer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6455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481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of every work package in the plan. Dates and work distribution approximate; effort totals per person as in the plan.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11680"/>
          <a:ext cx="11036808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394960"/>
                <a:gridCol w="731520"/>
                <a:gridCol w="1645920"/>
                <a:gridCol w="1188720"/>
                <a:gridCol w="143560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WP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Work package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Part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Lead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Delivered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E3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Status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Foundation: event schema, category filter, RL spec, documentation baseline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 delivered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Mid-term demo: working hybrid recommendation system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 delivered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ALS collaborative filtering: simulated dataset (50 → 1,000 products), interaction matrix, factorisation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Sagnic · Hailin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June – July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 delivered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Content-based layer: SBERT model training, user preference model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Hailin · Kamran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June – July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 delivered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Hybrid recommender: formula design, ALS + CF fusion with score transparency, testing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Swapnanil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 delivered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Noah: corpus rebuild &amp; route model, RAG ingestion, /api/chat, conversation context, Flutter brief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Swapnanil · Kamran · all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 – Sept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 delivered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Deployment &amp; monitoring: Docker, Render auto-deploy, offline test suite, logging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+ 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Kamran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 delivered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Documentation &amp; handover: API contract, ADRs, integration prompts, final report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+ 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Madina · all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8A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 progress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 system package: integrated recommender + assistant, evaluation, report and handover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+ 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659F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this presentation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421" y="5658705"/>
            <a:ext cx="78058" cy="7805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1232" y="6027822"/>
            <a:ext cx="98932" cy="98932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65704" y="2995861"/>
            <a:ext cx="98154" cy="98154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30060" y="3004606"/>
            <a:ext cx="58481" cy="58481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1867" y="5948956"/>
            <a:ext cx="58813" cy="5881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0729" y="3158083"/>
            <a:ext cx="58670" cy="58670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79350" y="2265032"/>
            <a:ext cx="69765" cy="69765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1221" y="5952659"/>
            <a:ext cx="92925" cy="92925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1935" y="2257075"/>
            <a:ext cx="65333" cy="6533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021" y="2478545"/>
            <a:ext cx="77858" cy="7785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0450" y="1894575"/>
            <a:ext cx="47059" cy="47059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3752" y="4606189"/>
            <a:ext cx="83999" cy="83999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6759" y="402979"/>
            <a:ext cx="75188" cy="7518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6093" y="593171"/>
            <a:ext cx="61058" cy="6105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48690" y="1282637"/>
            <a:ext cx="45770" cy="45770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30724" y="3202992"/>
            <a:ext cx="68470" cy="68470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0" y="8686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2E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Conclusion &amp; References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960120" y="2103120"/>
            <a:ext cx="4937760" cy="4023360"/>
          </a:xfrm>
          <a:prstGeom prst="roundRect">
            <a:avLst>
              <a:gd name="adj" fmla="val 3182"/>
            </a:avLst>
          </a:prstGeom>
          <a:solidFill>
            <a:srgbClr val="FAFBFC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280160" y="2331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80160" y="2743200"/>
            <a:ext cx="4297680" cy="10973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80160" y="288036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Recommendation engine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hybrid of SBERT content similarity and ALS collaborative filtering, blended per user (0.2 ≤ α ≤ 0.8), handles cold start and personalises as history accrues — in production.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Noah assistant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route model and a registry make contradictory responses unrepresentable; facts come only from live tools and scoped documents, and Noah asks instead of guessing.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honestly: 87.5% on never-seen phrasing (was 30%), 139 tests, a frozen 24-key contract — live and integrated with the Flutter app.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103120"/>
            <a:ext cx="4937760" cy="4023360"/>
          </a:xfrm>
          <a:prstGeom prst="roundRect">
            <a:avLst>
              <a:gd name="adj" fmla="val 3182"/>
            </a:avLst>
          </a:prstGeom>
          <a:solidFill>
            <a:srgbClr val="FAFBFC"/>
          </a:solidFill>
          <a:ln w="6350">
            <a:solidFill>
              <a:srgbClr val="E6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7F8AA8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29400" y="2331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29400" y="2743200"/>
            <a:ext cx="4297680" cy="10973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2962656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Noah — live API docs:</a:t>
            </a:r>
            <a:endParaRPr lang="en-US" sz="1250" dirty="0"/>
          </a:p>
        </p:txBody>
      </p:sp>
      <p:sp>
        <p:nvSpPr>
          <p:cNvPr id="28" name="Text 26">
            <a:hlinkClick r:id="rId1" tooltip=""/>
          </p:cNvPr>
          <p:cNvSpPr txBox="1"/>
          <p:nvPr/>
        </p:nvSpPr>
        <p:spPr>
          <a:xfrm>
            <a:off x="6858000" y="3099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https://noah-z7qr.onrender.com/docs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9584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34472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Noah — source repository:</a:t>
            </a:r>
            <a:endParaRPr lang="en-US" sz="1250" dirty="0"/>
          </a:p>
        </p:txBody>
      </p:sp>
      <p:sp>
        <p:nvSpPr>
          <p:cNvPr id="31" name="Text 29">
            <a:hlinkClick r:id="rId2" tooltip=""/>
          </p:cNvPr>
          <p:cNvSpPr txBox="1"/>
          <p:nvPr/>
        </p:nvSpPr>
        <p:spPr>
          <a:xfrm>
            <a:off x="6858000" y="3666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https://github.com/schlechtswapnanil/Noah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4096512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40142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OfferHopper (live prices):</a:t>
            </a:r>
            <a:endParaRPr lang="en-US" sz="1250" dirty="0"/>
          </a:p>
        </p:txBody>
      </p:sp>
      <p:sp>
        <p:nvSpPr>
          <p:cNvPr id="34" name="Text 32">
            <a:hlinkClick r:id="rId3" tooltip=""/>
          </p:cNvPr>
          <p:cNvSpPr txBox="1"/>
          <p:nvPr/>
        </p:nvSpPr>
        <p:spPr>
          <a:xfrm>
            <a:off x="6858000" y="4233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https://offerhopper.ai/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4663440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4581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SBERT — Reimers &amp; Gurevych (2019):</a:t>
            </a:r>
            <a:endParaRPr lang="en-US" sz="1250" dirty="0"/>
          </a:p>
        </p:txBody>
      </p:sp>
      <p:sp>
        <p:nvSpPr>
          <p:cNvPr id="37" name="Text 35">
            <a:hlinkClick r:id="rId4" tooltip=""/>
          </p:cNvPr>
          <p:cNvSpPr txBox="1"/>
          <p:nvPr/>
        </p:nvSpPr>
        <p:spPr>
          <a:xfrm>
            <a:off x="6858000" y="4800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https://www.sbert.net/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29400" y="5230368"/>
            <a:ext cx="91440" cy="91440"/>
          </a:xfrm>
          <a:prstGeom prst="ellipse">
            <a:avLst/>
          </a:prstGeom>
          <a:solidFill>
            <a:srgbClr val="292E3B"/>
          </a:solidFill>
          <a:ln w="12700">
            <a:solidFill>
              <a:srgbClr val="292E3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5148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 — Hu, Koren &amp; Volinsky (2008), Collaborative Filtering for Implicit Feedback Datasets:</a:t>
            </a:r>
            <a:endParaRPr lang="en-US" sz="1250" dirty="0"/>
          </a:p>
        </p:txBody>
      </p:sp>
      <p:sp>
        <p:nvSpPr>
          <p:cNvPr id="40" name="Text 38">
            <a:hlinkClick r:id="rId5" tooltip=""/>
          </p:cNvPr>
          <p:cNvSpPr txBox="1"/>
          <p:nvPr/>
        </p:nvSpPr>
        <p:spPr>
          <a:xfrm>
            <a:off x="6858000" y="5586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https://doi.org/10.1109/ICDM.2008.22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54016" y="6291072"/>
            <a:ext cx="1883664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5779" y="2937106"/>
            <a:ext cx="66373" cy="6637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3997" y="6264024"/>
            <a:ext cx="85195" cy="85195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14" y="5939210"/>
            <a:ext cx="85882" cy="85882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012" y="1220678"/>
            <a:ext cx="58603" cy="5860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81662" y="341967"/>
            <a:ext cx="66608" cy="6660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2120" y="335135"/>
            <a:ext cx="70571" cy="70571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5965" y="6180886"/>
            <a:ext cx="95743" cy="9574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06694" y="1292539"/>
            <a:ext cx="81698" cy="8169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330" y="612124"/>
            <a:ext cx="97626" cy="97626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97273" y="6273243"/>
            <a:ext cx="52085" cy="52085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9065" y="6147878"/>
            <a:ext cx="97704" cy="97704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80003" y="1207096"/>
            <a:ext cx="73092" cy="73092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3928" y="518697"/>
            <a:ext cx="55973" cy="5597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1959" y="348882"/>
            <a:ext cx="69207" cy="69207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50897" y="3364649"/>
            <a:ext cx="80790" cy="80790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8902" y="5832201"/>
            <a:ext cx="58718" cy="5871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951" y="588253"/>
            <a:ext cx="59914" cy="59914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26227" y="5953039"/>
            <a:ext cx="91081" cy="91081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2925" y="878907"/>
            <a:ext cx="79042" cy="79042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00540" y="5836810"/>
            <a:ext cx="97027" cy="97027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25136" y="4622996"/>
            <a:ext cx="53519" cy="53519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12253" y="4796269"/>
            <a:ext cx="96448" cy="9644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64" y="2759553"/>
            <a:ext cx="66248" cy="6624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0378" y="827707"/>
            <a:ext cx="57182" cy="57182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92553" y="362710"/>
            <a:ext cx="74406" cy="74406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6145" y="5580482"/>
            <a:ext cx="71208" cy="7120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381" y="3833268"/>
            <a:ext cx="77991" cy="77991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4719" y="4804336"/>
            <a:ext cx="81193" cy="8119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7170" y="369625"/>
            <a:ext cx="77005" cy="77005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38588" y="6052393"/>
            <a:ext cx="56584" cy="56584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783392" y="4786144"/>
            <a:ext cx="57372" cy="57372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87402" y="4876196"/>
            <a:ext cx="49423" cy="49423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207" y="5165698"/>
            <a:ext cx="86407" cy="86407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22776" y="366250"/>
            <a:ext cx="82268" cy="82268"/>
          </a:xfrm>
          <a:prstGeom prst="ellipse">
            <a:avLst/>
          </a:prstGeom>
          <a:solidFill>
            <a:srgbClr val="C5CCF4"/>
          </a:solidFill>
          <a:ln w="12700">
            <a:solidFill>
              <a:srgbClr val="C5CC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8535" y="385458"/>
            <a:ext cx="1601969" cy="169815"/>
          </a:xfrm>
          <a:prstGeom prst="line">
            <a:avLst/>
          </a:prstGeom>
          <a:noFill/>
          <a:ln w="9525">
            <a:solidFill>
              <a:srgbClr val="D5DA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61712" y="4659572"/>
            <a:ext cx="687117" cy="173273"/>
          </a:xfrm>
          <a:prstGeom prst="line">
            <a:avLst/>
          </a:prstGeom>
          <a:noFill/>
          <a:ln w="9525">
            <a:solidFill>
              <a:srgbClr val="D5DA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780940" y="864283"/>
            <a:ext cx="396014" cy="1931846"/>
          </a:xfrm>
          <a:prstGeom prst="line">
            <a:avLst/>
          </a:prstGeom>
          <a:noFill/>
          <a:ln w="9525">
            <a:solidFill>
              <a:srgbClr val="D5DA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1957" y="3869844"/>
            <a:ext cx="809338" cy="971068"/>
          </a:xfrm>
          <a:prstGeom prst="line">
            <a:avLst/>
          </a:prstGeom>
          <a:noFill/>
          <a:ln w="9525">
            <a:solidFill>
              <a:srgbClr val="D5DAF5"/>
            </a:solidFill>
            <a:prstDash val="solid"/>
          </a:ln>
        </p:spPr>
      </p:sp>
      <p:pic>
        <p:nvPicPr>
          <p:cNvPr id="40" name="Image 0" descr="/private/tmp/claude-501/-Users-neil-Documents-PayTo-Noah-Noah/f41bab26-1b6f-4ad4-9978-f0e9261fbc9e/scratchpad/assets/payt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960120"/>
            <a:ext cx="1554480" cy="747078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0" y="18288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2" name="Text 39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659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3" name="Text 40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2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Swapnanil Chakraborty · Kamran Anwar · Sagnic Das · Hailin Wang · Madina Haidari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0" y="4553712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PayTo Final Project Update — Universität Hamburg, Summer 2026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0" y="5029200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Noah:  </a:t>
            </a:r>
            <a:pPr algn="ctr" indent="0" marL="0">
              <a:buNone/>
            </a:pPr>
            <a:r>
              <a:rPr lang="en-US" sz="1300" u="sng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noah-z7qr.onrender.com/docs</a:t>
            </a:r>
            <a:pPr algn="ctr" indent="0" marL="0">
              <a:buNone/>
            </a:pPr>
            <a:r>
              <a:rPr lang="en-US" sz="13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algn="ctr" indent="0" marL="0">
              <a:buNone/>
            </a:pPr>
            <a:r>
              <a:rPr lang="en-US" sz="1300" u="sng" dirty="0">
                <a:solidFill>
                  <a:srgbClr val="4659F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github.com/schlechtswapnanil/Noah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154016" y="6291072"/>
            <a:ext cx="1883664" cy="36576"/>
          </a:xfrm>
          <a:prstGeom prst="rect">
            <a:avLst/>
          </a:prstGeom>
          <a:solidFill>
            <a:srgbClr val="4659FE"/>
          </a:solidFill>
          <a:ln w="12700">
            <a:solidFill>
              <a:srgbClr val="4659F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PayTo — Hybrid Recommendation System &amp; Noah AI Assistant</dc:title>
  <dc:subject>PptxGenJS Presentation</dc:subject>
  <dc:creator>Swapnanil Chakraborty</dc:creator>
  <cp:lastModifiedBy>Swapnanil Chakraborty</cp:lastModifiedBy>
  <cp:revision>1</cp:revision>
  <dcterms:created xsi:type="dcterms:W3CDTF">2026-09-21T22:29:16Z</dcterms:created>
  <dcterms:modified xsi:type="dcterms:W3CDTF">2026-09-21T22:29:16Z</dcterms:modified>
</cp:coreProperties>
</file>